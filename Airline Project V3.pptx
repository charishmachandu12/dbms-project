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4849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72" r:id="rId12"/>
    <p:sldId id="266" r:id="rId13"/>
    <p:sldId id="267" r:id="rId14"/>
    <p:sldId id="268" r:id="rId15"/>
    <p:sldId id="274" r:id="rId16"/>
    <p:sldId id="273" r:id="rId17"/>
    <p:sldId id="269" r:id="rId18"/>
    <p:sldId id="271" r:id="rId19"/>
    <p:sldId id="270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1827"/>
    <p:restoredTop sz="96245"/>
  </p:normalViewPr>
  <p:slideViewPr>
    <p:cSldViewPr snapToGrid="0">
      <p:cViewPr varScale="1">
        <p:scale>
          <a:sx n="81" d="100"/>
          <a:sy n="81" d="100"/>
        </p:scale>
        <p:origin x="192" y="7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F889C26-1B3F-480D-940A-78DC7C36F249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A09EB218-20CE-41E8-B4F7-4EF3E7A29778}">
      <dgm:prSet/>
      <dgm:spPr/>
      <dgm:t>
        <a:bodyPr/>
        <a:lstStyle/>
        <a:p>
          <a:r>
            <a:rPr lang="en-US" dirty="0"/>
            <a:t>TimePeriod</a:t>
          </a:r>
        </a:p>
      </dgm:t>
    </dgm:pt>
    <dgm:pt modelId="{F7B259CA-2872-4F04-9A57-2B09406BFE47}" type="parTrans" cxnId="{60AFB197-05D1-4ABA-AC6C-E5E3F3C9C7CF}">
      <dgm:prSet/>
      <dgm:spPr/>
      <dgm:t>
        <a:bodyPr/>
        <a:lstStyle/>
        <a:p>
          <a:endParaRPr lang="en-US"/>
        </a:p>
      </dgm:t>
    </dgm:pt>
    <dgm:pt modelId="{9BDBB522-DC8F-4E07-A796-6BB7388A8293}" type="sibTrans" cxnId="{60AFB197-05D1-4ABA-AC6C-E5E3F3C9C7CF}">
      <dgm:prSet/>
      <dgm:spPr/>
      <dgm:t>
        <a:bodyPr/>
        <a:lstStyle/>
        <a:p>
          <a:endParaRPr lang="en-US"/>
        </a:p>
      </dgm:t>
    </dgm:pt>
    <dgm:pt modelId="{8905B936-8981-4018-8821-5265D63CF457}">
      <dgm:prSet/>
      <dgm:spPr/>
      <dgm:t>
        <a:bodyPr/>
        <a:lstStyle/>
        <a:p>
          <a:r>
            <a:rPr lang="en-US" dirty="0"/>
            <a:t>State</a:t>
          </a:r>
        </a:p>
      </dgm:t>
    </dgm:pt>
    <dgm:pt modelId="{AEAD19CB-3209-4208-B5F4-F08A6D7906D1}" type="parTrans" cxnId="{6C7D1748-67E5-4FCA-B5C6-26B52C9F5A9F}">
      <dgm:prSet/>
      <dgm:spPr/>
      <dgm:t>
        <a:bodyPr/>
        <a:lstStyle/>
        <a:p>
          <a:endParaRPr lang="en-US"/>
        </a:p>
      </dgm:t>
    </dgm:pt>
    <dgm:pt modelId="{B0257FAA-BD94-470B-8EA3-33417479C0C5}" type="sibTrans" cxnId="{6C7D1748-67E5-4FCA-B5C6-26B52C9F5A9F}">
      <dgm:prSet/>
      <dgm:spPr/>
      <dgm:t>
        <a:bodyPr/>
        <a:lstStyle/>
        <a:p>
          <a:endParaRPr lang="en-US"/>
        </a:p>
      </dgm:t>
    </dgm:pt>
    <dgm:pt modelId="{D1B55F8A-A2DB-405F-96C2-A1BC3B10A3FE}">
      <dgm:prSet/>
      <dgm:spPr/>
      <dgm:t>
        <a:bodyPr/>
        <a:lstStyle/>
        <a:p>
          <a:r>
            <a:rPr lang="en-US"/>
            <a:t>Airlines</a:t>
          </a:r>
        </a:p>
      </dgm:t>
    </dgm:pt>
    <dgm:pt modelId="{95644050-E996-40BC-9CFB-3515D320F297}" type="parTrans" cxnId="{DAC2E652-5C5C-48EA-91C6-B60BBFB80B42}">
      <dgm:prSet/>
      <dgm:spPr/>
      <dgm:t>
        <a:bodyPr/>
        <a:lstStyle/>
        <a:p>
          <a:endParaRPr lang="en-US"/>
        </a:p>
      </dgm:t>
    </dgm:pt>
    <dgm:pt modelId="{2F9CC9BE-9892-46E1-BE00-B9A1BFCB033D}" type="sibTrans" cxnId="{DAC2E652-5C5C-48EA-91C6-B60BBFB80B42}">
      <dgm:prSet/>
      <dgm:spPr/>
      <dgm:t>
        <a:bodyPr/>
        <a:lstStyle/>
        <a:p>
          <a:endParaRPr lang="en-US"/>
        </a:p>
      </dgm:t>
    </dgm:pt>
    <dgm:pt modelId="{CCBA6B6F-8E86-45D3-B70C-463EC4F28A49}">
      <dgm:prSet/>
      <dgm:spPr/>
      <dgm:t>
        <a:bodyPr/>
        <a:lstStyle/>
        <a:p>
          <a:r>
            <a:rPr lang="en-US" dirty="0"/>
            <a:t>AirlineNames</a:t>
          </a:r>
        </a:p>
      </dgm:t>
    </dgm:pt>
    <dgm:pt modelId="{3746DF2C-5AE5-48DE-B8E9-2521FDA2F428}" type="parTrans" cxnId="{47719A4E-039C-4B4B-8CF3-A1D099301D1F}">
      <dgm:prSet/>
      <dgm:spPr/>
      <dgm:t>
        <a:bodyPr/>
        <a:lstStyle/>
        <a:p>
          <a:endParaRPr lang="en-US"/>
        </a:p>
      </dgm:t>
    </dgm:pt>
    <dgm:pt modelId="{A8FBEC78-A786-43D6-9B2A-FFF1A615CA4C}" type="sibTrans" cxnId="{47719A4E-039C-4B4B-8CF3-A1D099301D1F}">
      <dgm:prSet/>
      <dgm:spPr/>
      <dgm:t>
        <a:bodyPr/>
        <a:lstStyle/>
        <a:p>
          <a:endParaRPr lang="en-US"/>
        </a:p>
      </dgm:t>
    </dgm:pt>
    <dgm:pt modelId="{673CEF42-67CD-4464-AFB7-4BF199E09C7E}">
      <dgm:prSet/>
      <dgm:spPr/>
      <dgm:t>
        <a:bodyPr/>
        <a:lstStyle/>
        <a:p>
          <a:r>
            <a:rPr lang="en-US"/>
            <a:t>Airports</a:t>
          </a:r>
        </a:p>
      </dgm:t>
    </dgm:pt>
    <dgm:pt modelId="{D7BC4180-46CA-4AA5-9835-64034342F7EB}" type="parTrans" cxnId="{6524E430-5FEA-4F33-8C7B-7EC511BEF69B}">
      <dgm:prSet/>
      <dgm:spPr/>
      <dgm:t>
        <a:bodyPr/>
        <a:lstStyle/>
        <a:p>
          <a:endParaRPr lang="en-US"/>
        </a:p>
      </dgm:t>
    </dgm:pt>
    <dgm:pt modelId="{21AAC2F0-E936-4173-9974-23962B44285C}" type="sibTrans" cxnId="{6524E430-5FEA-4F33-8C7B-7EC511BEF69B}">
      <dgm:prSet/>
      <dgm:spPr/>
      <dgm:t>
        <a:bodyPr/>
        <a:lstStyle/>
        <a:p>
          <a:endParaRPr lang="en-US"/>
        </a:p>
      </dgm:t>
    </dgm:pt>
    <dgm:pt modelId="{C5B59068-89C2-4905-8766-6F21D32A7B8E}">
      <dgm:prSet/>
      <dgm:spPr/>
      <dgm:t>
        <a:bodyPr/>
        <a:lstStyle/>
        <a:p>
          <a:r>
            <a:rPr lang="en-US" dirty="0"/>
            <a:t>AirportNames</a:t>
          </a:r>
        </a:p>
      </dgm:t>
    </dgm:pt>
    <dgm:pt modelId="{DFDE5BBE-5E88-45FA-A6F8-B5C06CFA51BB}" type="parTrans" cxnId="{4A89E225-6C11-4463-ACD6-5476142E5B76}">
      <dgm:prSet/>
      <dgm:spPr/>
      <dgm:t>
        <a:bodyPr/>
        <a:lstStyle/>
        <a:p>
          <a:endParaRPr lang="en-US"/>
        </a:p>
      </dgm:t>
    </dgm:pt>
    <dgm:pt modelId="{F2ABB30F-CCB7-49DE-8456-F5CD0911A6A1}" type="sibTrans" cxnId="{4A89E225-6C11-4463-ACD6-5476142E5B76}">
      <dgm:prSet/>
      <dgm:spPr/>
      <dgm:t>
        <a:bodyPr/>
        <a:lstStyle/>
        <a:p>
          <a:endParaRPr lang="en-US"/>
        </a:p>
      </dgm:t>
    </dgm:pt>
    <dgm:pt modelId="{0D834D93-37A3-41FD-876D-6492B7BE0221}">
      <dgm:prSet/>
      <dgm:spPr/>
      <dgm:t>
        <a:bodyPr/>
        <a:lstStyle/>
        <a:p>
          <a:r>
            <a:rPr lang="en-US" dirty="0"/>
            <a:t>Routes</a:t>
          </a:r>
        </a:p>
      </dgm:t>
    </dgm:pt>
    <dgm:pt modelId="{6033AD43-17FA-4C4C-9B01-9ADCA6CBD636}" type="parTrans" cxnId="{5452A204-1F9E-4149-B5C1-BF3F0978DE80}">
      <dgm:prSet/>
      <dgm:spPr/>
      <dgm:t>
        <a:bodyPr/>
        <a:lstStyle/>
        <a:p>
          <a:endParaRPr lang="en-US"/>
        </a:p>
      </dgm:t>
    </dgm:pt>
    <dgm:pt modelId="{0A60E682-98DA-43FF-8D06-22BC8B103DC6}" type="sibTrans" cxnId="{5452A204-1F9E-4149-B5C1-BF3F0978DE80}">
      <dgm:prSet/>
      <dgm:spPr/>
      <dgm:t>
        <a:bodyPr/>
        <a:lstStyle/>
        <a:p>
          <a:endParaRPr lang="en-US"/>
        </a:p>
      </dgm:t>
    </dgm:pt>
    <dgm:pt modelId="{22A555CD-5F5F-466C-AD1A-05689BBE3B3D}">
      <dgm:prSet/>
      <dgm:spPr/>
      <dgm:t>
        <a:bodyPr/>
        <a:lstStyle/>
        <a:p>
          <a:r>
            <a:rPr lang="en-US" dirty="0"/>
            <a:t>Flights</a:t>
          </a:r>
        </a:p>
      </dgm:t>
    </dgm:pt>
    <dgm:pt modelId="{022465DF-6480-43A9-9AA8-4569EBD1DC6A}" type="parTrans" cxnId="{6497CC6A-5B1F-473A-8445-54083575CF22}">
      <dgm:prSet/>
      <dgm:spPr/>
      <dgm:t>
        <a:bodyPr/>
        <a:lstStyle/>
        <a:p>
          <a:endParaRPr lang="en-US"/>
        </a:p>
      </dgm:t>
    </dgm:pt>
    <dgm:pt modelId="{196F4866-0D4F-4691-B977-810DEECEA373}" type="sibTrans" cxnId="{6497CC6A-5B1F-473A-8445-54083575CF22}">
      <dgm:prSet/>
      <dgm:spPr/>
      <dgm:t>
        <a:bodyPr/>
        <a:lstStyle/>
        <a:p>
          <a:endParaRPr lang="en-US"/>
        </a:p>
      </dgm:t>
    </dgm:pt>
    <dgm:pt modelId="{AB60AA10-A2BC-432F-A281-DC7018BB8A8D}">
      <dgm:prSet/>
      <dgm:spPr/>
      <dgm:t>
        <a:bodyPr/>
        <a:lstStyle/>
        <a:p>
          <a:r>
            <a:rPr lang="en-US" dirty="0"/>
            <a:t>FlightPerformance</a:t>
          </a:r>
        </a:p>
      </dgm:t>
    </dgm:pt>
    <dgm:pt modelId="{B31BB95A-0D93-46A2-B05D-0F2F901FA67B}" type="parTrans" cxnId="{87D3BC66-EFD4-4ABF-9CC2-DD33E7125DAB}">
      <dgm:prSet/>
      <dgm:spPr/>
      <dgm:t>
        <a:bodyPr/>
        <a:lstStyle/>
        <a:p>
          <a:endParaRPr lang="en-US"/>
        </a:p>
      </dgm:t>
    </dgm:pt>
    <dgm:pt modelId="{BA2351BA-5038-4832-9916-A34D57BB758B}" type="sibTrans" cxnId="{87D3BC66-EFD4-4ABF-9CC2-DD33E7125DAB}">
      <dgm:prSet/>
      <dgm:spPr/>
      <dgm:t>
        <a:bodyPr/>
        <a:lstStyle/>
        <a:p>
          <a:endParaRPr lang="en-US"/>
        </a:p>
      </dgm:t>
    </dgm:pt>
    <dgm:pt modelId="{E3071B40-CA71-4AFA-9DE9-8B1F40963E9F}">
      <dgm:prSet/>
      <dgm:spPr/>
      <dgm:t>
        <a:bodyPr/>
        <a:lstStyle/>
        <a:p>
          <a:r>
            <a:rPr lang="en-US" dirty="0"/>
            <a:t>DelayType</a:t>
          </a:r>
        </a:p>
      </dgm:t>
    </dgm:pt>
    <dgm:pt modelId="{39F77A5F-3FC0-49A7-B9F3-DAC3DB24BFBE}" type="parTrans" cxnId="{BA03F484-D869-43C3-8B4F-A2510649DA17}">
      <dgm:prSet/>
      <dgm:spPr/>
      <dgm:t>
        <a:bodyPr/>
        <a:lstStyle/>
        <a:p>
          <a:endParaRPr lang="en-US"/>
        </a:p>
      </dgm:t>
    </dgm:pt>
    <dgm:pt modelId="{B4B1E7E3-E978-4E9B-8028-B73D23B3401F}" type="sibTrans" cxnId="{BA03F484-D869-43C3-8B4F-A2510649DA17}">
      <dgm:prSet/>
      <dgm:spPr/>
      <dgm:t>
        <a:bodyPr/>
        <a:lstStyle/>
        <a:p>
          <a:endParaRPr lang="en-US"/>
        </a:p>
      </dgm:t>
    </dgm:pt>
    <dgm:pt modelId="{2C8D0CDA-3F1C-4938-8896-8021E6DFDC54}">
      <dgm:prSet/>
      <dgm:spPr/>
      <dgm:t>
        <a:bodyPr/>
        <a:lstStyle/>
        <a:p>
          <a:r>
            <a:rPr lang="en-US" dirty="0"/>
            <a:t>FlightDelay</a:t>
          </a:r>
        </a:p>
      </dgm:t>
    </dgm:pt>
    <dgm:pt modelId="{51A640BB-544B-4EC3-A75D-D9FDBA11A1D7}" type="parTrans" cxnId="{BD08E7FF-C55E-4F69-9A18-EB61433767B9}">
      <dgm:prSet/>
      <dgm:spPr/>
      <dgm:t>
        <a:bodyPr/>
        <a:lstStyle/>
        <a:p>
          <a:endParaRPr lang="en-US"/>
        </a:p>
      </dgm:t>
    </dgm:pt>
    <dgm:pt modelId="{735FACCF-0DF0-4C1C-A903-B05DB3516D5F}" type="sibTrans" cxnId="{BD08E7FF-C55E-4F69-9A18-EB61433767B9}">
      <dgm:prSet/>
      <dgm:spPr/>
      <dgm:t>
        <a:bodyPr/>
        <a:lstStyle/>
        <a:p>
          <a:endParaRPr lang="en-US"/>
        </a:p>
      </dgm:t>
    </dgm:pt>
    <dgm:pt modelId="{502B4932-B03A-406E-A4AE-C7ADE2C3AD5C}">
      <dgm:prSet/>
      <dgm:spPr/>
      <dgm:t>
        <a:bodyPr/>
        <a:lstStyle/>
        <a:p>
          <a:r>
            <a:rPr lang="en-US"/>
            <a:t>CancellationReason</a:t>
          </a:r>
        </a:p>
      </dgm:t>
    </dgm:pt>
    <dgm:pt modelId="{CAD876F2-CF21-443F-9649-66F1610483D4}" type="parTrans" cxnId="{7A643826-3DDA-4D5B-BC2A-9E524E626311}">
      <dgm:prSet/>
      <dgm:spPr/>
      <dgm:t>
        <a:bodyPr/>
        <a:lstStyle/>
        <a:p>
          <a:endParaRPr lang="en-US"/>
        </a:p>
      </dgm:t>
    </dgm:pt>
    <dgm:pt modelId="{591B67E0-3EB2-4C6F-87A0-8A6192C7CD5A}" type="sibTrans" cxnId="{7A643826-3DDA-4D5B-BC2A-9E524E626311}">
      <dgm:prSet/>
      <dgm:spPr/>
      <dgm:t>
        <a:bodyPr/>
        <a:lstStyle/>
        <a:p>
          <a:endParaRPr lang="en-US"/>
        </a:p>
      </dgm:t>
    </dgm:pt>
    <dgm:pt modelId="{7B9F0972-FCED-4817-854D-43640DE47DEB}">
      <dgm:prSet/>
      <dgm:spPr/>
      <dgm:t>
        <a:bodyPr/>
        <a:lstStyle/>
        <a:p>
          <a:r>
            <a:rPr lang="en-US" dirty="0"/>
            <a:t>FlightDiversion</a:t>
          </a:r>
        </a:p>
      </dgm:t>
    </dgm:pt>
    <dgm:pt modelId="{576ED729-F860-4D27-AB69-FEEADFEB1F8F}" type="parTrans" cxnId="{D07E5CEE-C897-4984-8BAB-E65F8301ACB6}">
      <dgm:prSet/>
      <dgm:spPr/>
      <dgm:t>
        <a:bodyPr/>
        <a:lstStyle/>
        <a:p>
          <a:endParaRPr lang="en-US"/>
        </a:p>
      </dgm:t>
    </dgm:pt>
    <dgm:pt modelId="{866D0EF9-9B75-4C1B-811B-8255F6C12C7E}" type="sibTrans" cxnId="{D07E5CEE-C897-4984-8BAB-E65F8301ACB6}">
      <dgm:prSet/>
      <dgm:spPr/>
      <dgm:t>
        <a:bodyPr/>
        <a:lstStyle/>
        <a:p>
          <a:endParaRPr lang="en-US"/>
        </a:p>
      </dgm:t>
    </dgm:pt>
    <dgm:pt modelId="{F3628AB8-98EC-9947-85B6-9272E76D33D1}" type="pres">
      <dgm:prSet presAssocID="{8F889C26-1B3F-480D-940A-78DC7C36F249}" presName="Name0" presStyleCnt="0">
        <dgm:presLayoutVars>
          <dgm:dir/>
          <dgm:animLvl val="lvl"/>
          <dgm:resizeHandles val="exact"/>
        </dgm:presLayoutVars>
      </dgm:prSet>
      <dgm:spPr/>
    </dgm:pt>
    <dgm:pt modelId="{F7232D05-E617-9448-95BF-E7372EF012DB}" type="pres">
      <dgm:prSet presAssocID="{A09EB218-20CE-41E8-B4F7-4EF3E7A29778}" presName="linNode" presStyleCnt="0"/>
      <dgm:spPr/>
    </dgm:pt>
    <dgm:pt modelId="{339CB9F2-5CF5-1A47-A29F-54067442EB2B}" type="pres">
      <dgm:prSet presAssocID="{A09EB218-20CE-41E8-B4F7-4EF3E7A29778}" presName="parentText" presStyleLbl="node1" presStyleIdx="0" presStyleCnt="13">
        <dgm:presLayoutVars>
          <dgm:chMax val="1"/>
          <dgm:bulletEnabled val="1"/>
        </dgm:presLayoutVars>
      </dgm:prSet>
      <dgm:spPr/>
    </dgm:pt>
    <dgm:pt modelId="{2DC27C6C-1C4E-2D48-90D9-028BE711B1FB}" type="pres">
      <dgm:prSet presAssocID="{9BDBB522-DC8F-4E07-A796-6BB7388A8293}" presName="sp" presStyleCnt="0"/>
      <dgm:spPr/>
    </dgm:pt>
    <dgm:pt modelId="{9EFC564D-74B8-5A4C-80FA-FF0C6DF5ED9B}" type="pres">
      <dgm:prSet presAssocID="{D1B55F8A-A2DB-405F-96C2-A1BC3B10A3FE}" presName="linNode" presStyleCnt="0"/>
      <dgm:spPr/>
    </dgm:pt>
    <dgm:pt modelId="{39707687-0D9F-B242-BBBF-0B2B167A1E61}" type="pres">
      <dgm:prSet presAssocID="{D1B55F8A-A2DB-405F-96C2-A1BC3B10A3FE}" presName="parentText" presStyleLbl="node1" presStyleIdx="1" presStyleCnt="13">
        <dgm:presLayoutVars>
          <dgm:chMax val="1"/>
          <dgm:bulletEnabled val="1"/>
        </dgm:presLayoutVars>
      </dgm:prSet>
      <dgm:spPr/>
    </dgm:pt>
    <dgm:pt modelId="{03D5532C-5AE0-5B4C-BF98-1E517705F914}" type="pres">
      <dgm:prSet presAssocID="{2F9CC9BE-9892-46E1-BE00-B9A1BFCB033D}" presName="sp" presStyleCnt="0"/>
      <dgm:spPr/>
    </dgm:pt>
    <dgm:pt modelId="{DA05580C-3095-B448-9E85-4BC26C5B0D63}" type="pres">
      <dgm:prSet presAssocID="{673CEF42-67CD-4464-AFB7-4BF199E09C7E}" presName="linNode" presStyleCnt="0"/>
      <dgm:spPr/>
    </dgm:pt>
    <dgm:pt modelId="{FD5AC714-EA82-8A4A-983F-C36BF0206A1C}" type="pres">
      <dgm:prSet presAssocID="{673CEF42-67CD-4464-AFB7-4BF199E09C7E}" presName="parentText" presStyleLbl="node1" presStyleIdx="2" presStyleCnt="13">
        <dgm:presLayoutVars>
          <dgm:chMax val="1"/>
          <dgm:bulletEnabled val="1"/>
        </dgm:presLayoutVars>
      </dgm:prSet>
      <dgm:spPr/>
    </dgm:pt>
    <dgm:pt modelId="{09DFB00C-5103-004B-B64A-E0EDE140BB51}" type="pres">
      <dgm:prSet presAssocID="{21AAC2F0-E936-4173-9974-23962B44285C}" presName="sp" presStyleCnt="0"/>
      <dgm:spPr/>
    </dgm:pt>
    <dgm:pt modelId="{7FEF848B-152B-DF4B-9FBA-D27DE43F2DCA}" type="pres">
      <dgm:prSet presAssocID="{22A555CD-5F5F-466C-AD1A-05689BBE3B3D}" presName="linNode" presStyleCnt="0"/>
      <dgm:spPr/>
    </dgm:pt>
    <dgm:pt modelId="{6EF0514D-CC82-BD49-9DFB-B3E9D3B80064}" type="pres">
      <dgm:prSet presAssocID="{22A555CD-5F5F-466C-AD1A-05689BBE3B3D}" presName="parentText" presStyleLbl="node1" presStyleIdx="3" presStyleCnt="13">
        <dgm:presLayoutVars>
          <dgm:chMax val="1"/>
          <dgm:bulletEnabled val="1"/>
        </dgm:presLayoutVars>
      </dgm:prSet>
      <dgm:spPr/>
    </dgm:pt>
    <dgm:pt modelId="{AFF947E9-9E20-1445-9FA7-60FF81A57D30}" type="pres">
      <dgm:prSet presAssocID="{196F4866-0D4F-4691-B977-810DEECEA373}" presName="sp" presStyleCnt="0"/>
      <dgm:spPr/>
    </dgm:pt>
    <dgm:pt modelId="{8F1F5D06-7837-344A-BA7C-50791628C553}" type="pres">
      <dgm:prSet presAssocID="{AB60AA10-A2BC-432F-A281-DC7018BB8A8D}" presName="linNode" presStyleCnt="0"/>
      <dgm:spPr/>
    </dgm:pt>
    <dgm:pt modelId="{98316E97-5D64-3247-9819-55CD1D6146FF}" type="pres">
      <dgm:prSet presAssocID="{AB60AA10-A2BC-432F-A281-DC7018BB8A8D}" presName="parentText" presStyleLbl="node1" presStyleIdx="4" presStyleCnt="13">
        <dgm:presLayoutVars>
          <dgm:chMax val="1"/>
          <dgm:bulletEnabled val="1"/>
        </dgm:presLayoutVars>
      </dgm:prSet>
      <dgm:spPr/>
    </dgm:pt>
    <dgm:pt modelId="{F108F548-4C3F-574C-B004-2788F7FB3749}" type="pres">
      <dgm:prSet presAssocID="{BA2351BA-5038-4832-9916-A34D57BB758B}" presName="sp" presStyleCnt="0"/>
      <dgm:spPr/>
    </dgm:pt>
    <dgm:pt modelId="{7B5FF2BD-4DA7-EC44-B010-9BA859EE0F6C}" type="pres">
      <dgm:prSet presAssocID="{0D834D93-37A3-41FD-876D-6492B7BE0221}" presName="linNode" presStyleCnt="0"/>
      <dgm:spPr/>
    </dgm:pt>
    <dgm:pt modelId="{AD4ED9FC-2248-3349-A1CA-32B639AF6A4C}" type="pres">
      <dgm:prSet presAssocID="{0D834D93-37A3-41FD-876D-6492B7BE0221}" presName="parentText" presStyleLbl="node1" presStyleIdx="5" presStyleCnt="13">
        <dgm:presLayoutVars>
          <dgm:chMax val="1"/>
          <dgm:bulletEnabled val="1"/>
        </dgm:presLayoutVars>
      </dgm:prSet>
      <dgm:spPr/>
    </dgm:pt>
    <dgm:pt modelId="{BE48E288-5ABE-A246-8FF0-F73198A56A84}" type="pres">
      <dgm:prSet presAssocID="{0A60E682-98DA-43FF-8D06-22BC8B103DC6}" presName="sp" presStyleCnt="0"/>
      <dgm:spPr/>
    </dgm:pt>
    <dgm:pt modelId="{30768211-2C5C-E64A-9641-3FD406953A54}" type="pres">
      <dgm:prSet presAssocID="{2C8D0CDA-3F1C-4938-8896-8021E6DFDC54}" presName="linNode" presStyleCnt="0"/>
      <dgm:spPr/>
    </dgm:pt>
    <dgm:pt modelId="{F9A5F1C6-2BBD-C34B-9F17-A01943E3E093}" type="pres">
      <dgm:prSet presAssocID="{2C8D0CDA-3F1C-4938-8896-8021E6DFDC54}" presName="parentText" presStyleLbl="node1" presStyleIdx="6" presStyleCnt="13">
        <dgm:presLayoutVars>
          <dgm:chMax val="1"/>
          <dgm:bulletEnabled val="1"/>
        </dgm:presLayoutVars>
      </dgm:prSet>
      <dgm:spPr/>
    </dgm:pt>
    <dgm:pt modelId="{70B82F66-0507-0D46-B470-78F9012D474F}" type="pres">
      <dgm:prSet presAssocID="{735FACCF-0DF0-4C1C-A903-B05DB3516D5F}" presName="sp" presStyleCnt="0"/>
      <dgm:spPr/>
    </dgm:pt>
    <dgm:pt modelId="{069D6F7B-58F1-1248-84D3-ABF504FE7F70}" type="pres">
      <dgm:prSet presAssocID="{7B9F0972-FCED-4817-854D-43640DE47DEB}" presName="linNode" presStyleCnt="0"/>
      <dgm:spPr/>
    </dgm:pt>
    <dgm:pt modelId="{D9EE11CE-A95F-194D-A383-871376E80065}" type="pres">
      <dgm:prSet presAssocID="{7B9F0972-FCED-4817-854D-43640DE47DEB}" presName="parentText" presStyleLbl="node1" presStyleIdx="7" presStyleCnt="13">
        <dgm:presLayoutVars>
          <dgm:chMax val="1"/>
          <dgm:bulletEnabled val="1"/>
        </dgm:presLayoutVars>
      </dgm:prSet>
      <dgm:spPr/>
    </dgm:pt>
    <dgm:pt modelId="{B050FB7F-8AD3-C449-9B18-DCF5A30DAA91}" type="pres">
      <dgm:prSet presAssocID="{866D0EF9-9B75-4C1B-811B-8255F6C12C7E}" presName="sp" presStyleCnt="0"/>
      <dgm:spPr/>
    </dgm:pt>
    <dgm:pt modelId="{D46F9F6F-24B7-1641-8CB4-4CCA8E80BB95}" type="pres">
      <dgm:prSet presAssocID="{8905B936-8981-4018-8821-5265D63CF457}" presName="linNode" presStyleCnt="0"/>
      <dgm:spPr/>
    </dgm:pt>
    <dgm:pt modelId="{90C00FF3-4AF5-EA48-B9F9-E7FBA1C2650A}" type="pres">
      <dgm:prSet presAssocID="{8905B936-8981-4018-8821-5265D63CF457}" presName="parentText" presStyleLbl="node1" presStyleIdx="8" presStyleCnt="13">
        <dgm:presLayoutVars>
          <dgm:chMax val="1"/>
          <dgm:bulletEnabled val="1"/>
        </dgm:presLayoutVars>
      </dgm:prSet>
      <dgm:spPr/>
    </dgm:pt>
    <dgm:pt modelId="{74B9BF0E-9626-AD48-9704-BA3C47847B47}" type="pres">
      <dgm:prSet presAssocID="{B0257FAA-BD94-470B-8EA3-33417479C0C5}" presName="sp" presStyleCnt="0"/>
      <dgm:spPr/>
    </dgm:pt>
    <dgm:pt modelId="{02CF34D5-495B-2D46-8EE4-1D57E3AC0160}" type="pres">
      <dgm:prSet presAssocID="{E3071B40-CA71-4AFA-9DE9-8B1F40963E9F}" presName="linNode" presStyleCnt="0"/>
      <dgm:spPr/>
    </dgm:pt>
    <dgm:pt modelId="{4EA9B9EC-71CC-F24F-83A2-E7153223BD3F}" type="pres">
      <dgm:prSet presAssocID="{E3071B40-CA71-4AFA-9DE9-8B1F40963E9F}" presName="parentText" presStyleLbl="node1" presStyleIdx="9" presStyleCnt="13">
        <dgm:presLayoutVars>
          <dgm:chMax val="1"/>
          <dgm:bulletEnabled val="1"/>
        </dgm:presLayoutVars>
      </dgm:prSet>
      <dgm:spPr/>
    </dgm:pt>
    <dgm:pt modelId="{9E54D0DD-FEFE-934E-AA2C-DAF42C04B1A3}" type="pres">
      <dgm:prSet presAssocID="{B4B1E7E3-E978-4E9B-8028-B73D23B3401F}" presName="sp" presStyleCnt="0"/>
      <dgm:spPr/>
    </dgm:pt>
    <dgm:pt modelId="{AACF6FC1-C63D-C848-8E90-072B36034026}" type="pres">
      <dgm:prSet presAssocID="{502B4932-B03A-406E-A4AE-C7ADE2C3AD5C}" presName="linNode" presStyleCnt="0"/>
      <dgm:spPr/>
    </dgm:pt>
    <dgm:pt modelId="{38192E26-F71B-E341-B91C-55049BDDEB6D}" type="pres">
      <dgm:prSet presAssocID="{502B4932-B03A-406E-A4AE-C7ADE2C3AD5C}" presName="parentText" presStyleLbl="node1" presStyleIdx="10" presStyleCnt="13">
        <dgm:presLayoutVars>
          <dgm:chMax val="1"/>
          <dgm:bulletEnabled val="1"/>
        </dgm:presLayoutVars>
      </dgm:prSet>
      <dgm:spPr/>
    </dgm:pt>
    <dgm:pt modelId="{6F64EBE3-3E3A-7F40-AB19-3854D175BB3E}" type="pres">
      <dgm:prSet presAssocID="{591B67E0-3EB2-4C6F-87A0-8A6192C7CD5A}" presName="sp" presStyleCnt="0"/>
      <dgm:spPr/>
    </dgm:pt>
    <dgm:pt modelId="{5C0507C0-88E9-2448-B4B0-227D826CD474}" type="pres">
      <dgm:prSet presAssocID="{C5B59068-89C2-4905-8766-6F21D32A7B8E}" presName="linNode" presStyleCnt="0"/>
      <dgm:spPr/>
    </dgm:pt>
    <dgm:pt modelId="{DA865FAE-9FFD-F847-898C-E5C5DCE8AD57}" type="pres">
      <dgm:prSet presAssocID="{C5B59068-89C2-4905-8766-6F21D32A7B8E}" presName="parentText" presStyleLbl="node1" presStyleIdx="11" presStyleCnt="13">
        <dgm:presLayoutVars>
          <dgm:chMax val="1"/>
          <dgm:bulletEnabled val="1"/>
        </dgm:presLayoutVars>
      </dgm:prSet>
      <dgm:spPr/>
    </dgm:pt>
    <dgm:pt modelId="{BC95766C-D1DC-124F-A85D-9A8C6450ADF6}" type="pres">
      <dgm:prSet presAssocID="{F2ABB30F-CCB7-49DE-8456-F5CD0911A6A1}" presName="sp" presStyleCnt="0"/>
      <dgm:spPr/>
    </dgm:pt>
    <dgm:pt modelId="{BA0F6135-4002-8A46-84DA-45FB07FDB8B9}" type="pres">
      <dgm:prSet presAssocID="{CCBA6B6F-8E86-45D3-B70C-463EC4F28A49}" presName="linNode" presStyleCnt="0"/>
      <dgm:spPr/>
    </dgm:pt>
    <dgm:pt modelId="{EDBE2F5B-37F9-154A-B3B2-577E2D9D9C73}" type="pres">
      <dgm:prSet presAssocID="{CCBA6B6F-8E86-45D3-B70C-463EC4F28A49}" presName="parentText" presStyleLbl="node1" presStyleIdx="12" presStyleCnt="13">
        <dgm:presLayoutVars>
          <dgm:chMax val="1"/>
          <dgm:bulletEnabled val="1"/>
        </dgm:presLayoutVars>
      </dgm:prSet>
      <dgm:spPr/>
    </dgm:pt>
  </dgm:ptLst>
  <dgm:cxnLst>
    <dgm:cxn modelId="{5452A204-1F9E-4149-B5C1-BF3F0978DE80}" srcId="{8F889C26-1B3F-480D-940A-78DC7C36F249}" destId="{0D834D93-37A3-41FD-876D-6492B7BE0221}" srcOrd="5" destOrd="0" parTransId="{6033AD43-17FA-4C4C-9B01-9ADCA6CBD636}" sibTransId="{0A60E682-98DA-43FF-8D06-22BC8B103DC6}"/>
    <dgm:cxn modelId="{C135AB1A-B7EB-1F4A-A725-BDBA39BE6DB5}" type="presOf" srcId="{A09EB218-20CE-41E8-B4F7-4EF3E7A29778}" destId="{339CB9F2-5CF5-1A47-A29F-54067442EB2B}" srcOrd="0" destOrd="0" presId="urn:microsoft.com/office/officeart/2005/8/layout/vList5"/>
    <dgm:cxn modelId="{2E76511D-5C8D-5343-A6B7-A1A20677CD09}" type="presOf" srcId="{7B9F0972-FCED-4817-854D-43640DE47DEB}" destId="{D9EE11CE-A95F-194D-A383-871376E80065}" srcOrd="0" destOrd="0" presId="urn:microsoft.com/office/officeart/2005/8/layout/vList5"/>
    <dgm:cxn modelId="{4A89E225-6C11-4463-ACD6-5476142E5B76}" srcId="{8F889C26-1B3F-480D-940A-78DC7C36F249}" destId="{C5B59068-89C2-4905-8766-6F21D32A7B8E}" srcOrd="11" destOrd="0" parTransId="{DFDE5BBE-5E88-45FA-A6F8-B5C06CFA51BB}" sibTransId="{F2ABB30F-CCB7-49DE-8456-F5CD0911A6A1}"/>
    <dgm:cxn modelId="{7A643826-3DDA-4D5B-BC2A-9E524E626311}" srcId="{8F889C26-1B3F-480D-940A-78DC7C36F249}" destId="{502B4932-B03A-406E-A4AE-C7ADE2C3AD5C}" srcOrd="10" destOrd="0" parTransId="{CAD876F2-CF21-443F-9649-66F1610483D4}" sibTransId="{591B67E0-3EB2-4C6F-87A0-8A6192C7CD5A}"/>
    <dgm:cxn modelId="{468D1427-57DC-CD4E-B870-806F4F443FB6}" type="presOf" srcId="{2C8D0CDA-3F1C-4938-8896-8021E6DFDC54}" destId="{F9A5F1C6-2BBD-C34B-9F17-A01943E3E093}" srcOrd="0" destOrd="0" presId="urn:microsoft.com/office/officeart/2005/8/layout/vList5"/>
    <dgm:cxn modelId="{6524E430-5FEA-4F33-8C7B-7EC511BEF69B}" srcId="{8F889C26-1B3F-480D-940A-78DC7C36F249}" destId="{673CEF42-67CD-4464-AFB7-4BF199E09C7E}" srcOrd="2" destOrd="0" parTransId="{D7BC4180-46CA-4AA5-9835-64034342F7EB}" sibTransId="{21AAC2F0-E936-4173-9974-23962B44285C}"/>
    <dgm:cxn modelId="{985E1E34-F942-4940-B650-A7045BAA6B54}" type="presOf" srcId="{673CEF42-67CD-4464-AFB7-4BF199E09C7E}" destId="{FD5AC714-EA82-8A4A-983F-C36BF0206A1C}" srcOrd="0" destOrd="0" presId="urn:microsoft.com/office/officeart/2005/8/layout/vList5"/>
    <dgm:cxn modelId="{6C7D1748-67E5-4FCA-B5C6-26B52C9F5A9F}" srcId="{8F889C26-1B3F-480D-940A-78DC7C36F249}" destId="{8905B936-8981-4018-8821-5265D63CF457}" srcOrd="8" destOrd="0" parTransId="{AEAD19CB-3209-4208-B5F4-F08A6D7906D1}" sibTransId="{B0257FAA-BD94-470B-8EA3-33417479C0C5}"/>
    <dgm:cxn modelId="{47719A4E-039C-4B4B-8CF3-A1D099301D1F}" srcId="{8F889C26-1B3F-480D-940A-78DC7C36F249}" destId="{CCBA6B6F-8E86-45D3-B70C-463EC4F28A49}" srcOrd="12" destOrd="0" parTransId="{3746DF2C-5AE5-48DE-B8E9-2521FDA2F428}" sibTransId="{A8FBEC78-A786-43D6-9B2A-FFF1A615CA4C}"/>
    <dgm:cxn modelId="{DAC2E652-5C5C-48EA-91C6-B60BBFB80B42}" srcId="{8F889C26-1B3F-480D-940A-78DC7C36F249}" destId="{D1B55F8A-A2DB-405F-96C2-A1BC3B10A3FE}" srcOrd="1" destOrd="0" parTransId="{95644050-E996-40BC-9CFB-3515D320F297}" sibTransId="{2F9CC9BE-9892-46E1-BE00-B9A1BFCB033D}"/>
    <dgm:cxn modelId="{7DCCDC61-F915-144E-8ACC-9CF0BB869DDA}" type="presOf" srcId="{0D834D93-37A3-41FD-876D-6492B7BE0221}" destId="{AD4ED9FC-2248-3349-A1CA-32B639AF6A4C}" srcOrd="0" destOrd="0" presId="urn:microsoft.com/office/officeart/2005/8/layout/vList5"/>
    <dgm:cxn modelId="{87D3BC66-EFD4-4ABF-9CC2-DD33E7125DAB}" srcId="{8F889C26-1B3F-480D-940A-78DC7C36F249}" destId="{AB60AA10-A2BC-432F-A281-DC7018BB8A8D}" srcOrd="4" destOrd="0" parTransId="{B31BB95A-0D93-46A2-B05D-0F2F901FA67B}" sibTransId="{BA2351BA-5038-4832-9916-A34D57BB758B}"/>
    <dgm:cxn modelId="{6497CC6A-5B1F-473A-8445-54083575CF22}" srcId="{8F889C26-1B3F-480D-940A-78DC7C36F249}" destId="{22A555CD-5F5F-466C-AD1A-05689BBE3B3D}" srcOrd="3" destOrd="0" parTransId="{022465DF-6480-43A9-9AA8-4569EBD1DC6A}" sibTransId="{196F4866-0D4F-4691-B977-810DEECEA373}"/>
    <dgm:cxn modelId="{FEF16D79-674C-6B41-9E1A-9C9AD37A85E6}" type="presOf" srcId="{D1B55F8A-A2DB-405F-96C2-A1BC3B10A3FE}" destId="{39707687-0D9F-B242-BBBF-0B2B167A1E61}" srcOrd="0" destOrd="0" presId="urn:microsoft.com/office/officeart/2005/8/layout/vList5"/>
    <dgm:cxn modelId="{E12C757A-0606-894B-98CF-635BA412F296}" type="presOf" srcId="{8905B936-8981-4018-8821-5265D63CF457}" destId="{90C00FF3-4AF5-EA48-B9F9-E7FBA1C2650A}" srcOrd="0" destOrd="0" presId="urn:microsoft.com/office/officeart/2005/8/layout/vList5"/>
    <dgm:cxn modelId="{BA03F484-D869-43C3-8B4F-A2510649DA17}" srcId="{8F889C26-1B3F-480D-940A-78DC7C36F249}" destId="{E3071B40-CA71-4AFA-9DE9-8B1F40963E9F}" srcOrd="9" destOrd="0" parTransId="{39F77A5F-3FC0-49A7-B9F3-DAC3DB24BFBE}" sibTransId="{B4B1E7E3-E978-4E9B-8028-B73D23B3401F}"/>
    <dgm:cxn modelId="{2164A28A-5F52-BB41-8E28-6E7EE250D2AB}" type="presOf" srcId="{22A555CD-5F5F-466C-AD1A-05689BBE3B3D}" destId="{6EF0514D-CC82-BD49-9DFB-B3E9D3B80064}" srcOrd="0" destOrd="0" presId="urn:microsoft.com/office/officeart/2005/8/layout/vList5"/>
    <dgm:cxn modelId="{A36E268C-F5B5-C944-B849-2F2281BB684C}" type="presOf" srcId="{E3071B40-CA71-4AFA-9DE9-8B1F40963E9F}" destId="{4EA9B9EC-71CC-F24F-83A2-E7153223BD3F}" srcOrd="0" destOrd="0" presId="urn:microsoft.com/office/officeart/2005/8/layout/vList5"/>
    <dgm:cxn modelId="{60AFB197-05D1-4ABA-AC6C-E5E3F3C9C7CF}" srcId="{8F889C26-1B3F-480D-940A-78DC7C36F249}" destId="{A09EB218-20CE-41E8-B4F7-4EF3E7A29778}" srcOrd="0" destOrd="0" parTransId="{F7B259CA-2872-4F04-9A57-2B09406BFE47}" sibTransId="{9BDBB522-DC8F-4E07-A796-6BB7388A8293}"/>
    <dgm:cxn modelId="{7F59DD97-D1CE-CC45-A6DE-CC0AE305775C}" type="presOf" srcId="{C5B59068-89C2-4905-8766-6F21D32A7B8E}" destId="{DA865FAE-9FFD-F847-898C-E5C5DCE8AD57}" srcOrd="0" destOrd="0" presId="urn:microsoft.com/office/officeart/2005/8/layout/vList5"/>
    <dgm:cxn modelId="{D62821AC-62C3-524D-BCDE-09CBE5A87402}" type="presOf" srcId="{CCBA6B6F-8E86-45D3-B70C-463EC4F28A49}" destId="{EDBE2F5B-37F9-154A-B3B2-577E2D9D9C73}" srcOrd="0" destOrd="0" presId="urn:microsoft.com/office/officeart/2005/8/layout/vList5"/>
    <dgm:cxn modelId="{530BCFC0-33C3-E247-917F-285C45689079}" type="presOf" srcId="{502B4932-B03A-406E-A4AE-C7ADE2C3AD5C}" destId="{38192E26-F71B-E341-B91C-55049BDDEB6D}" srcOrd="0" destOrd="0" presId="urn:microsoft.com/office/officeart/2005/8/layout/vList5"/>
    <dgm:cxn modelId="{FFFA4DD1-1B84-0648-95FF-CEEF6E4FA87B}" type="presOf" srcId="{AB60AA10-A2BC-432F-A281-DC7018BB8A8D}" destId="{98316E97-5D64-3247-9819-55CD1D6146FF}" srcOrd="0" destOrd="0" presId="urn:microsoft.com/office/officeart/2005/8/layout/vList5"/>
    <dgm:cxn modelId="{D07E5CEE-C897-4984-8BAB-E65F8301ACB6}" srcId="{8F889C26-1B3F-480D-940A-78DC7C36F249}" destId="{7B9F0972-FCED-4817-854D-43640DE47DEB}" srcOrd="7" destOrd="0" parTransId="{576ED729-F860-4D27-AB69-FEEADFEB1F8F}" sibTransId="{866D0EF9-9B75-4C1B-811B-8255F6C12C7E}"/>
    <dgm:cxn modelId="{E20316F0-D8AB-AD4D-874A-7BE968237FE4}" type="presOf" srcId="{8F889C26-1B3F-480D-940A-78DC7C36F249}" destId="{F3628AB8-98EC-9947-85B6-9272E76D33D1}" srcOrd="0" destOrd="0" presId="urn:microsoft.com/office/officeart/2005/8/layout/vList5"/>
    <dgm:cxn modelId="{BD08E7FF-C55E-4F69-9A18-EB61433767B9}" srcId="{8F889C26-1B3F-480D-940A-78DC7C36F249}" destId="{2C8D0CDA-3F1C-4938-8896-8021E6DFDC54}" srcOrd="6" destOrd="0" parTransId="{51A640BB-544B-4EC3-A75D-D9FDBA11A1D7}" sibTransId="{735FACCF-0DF0-4C1C-A903-B05DB3516D5F}"/>
    <dgm:cxn modelId="{E6886A23-33FF-004F-888E-EF684ABD8FC3}" type="presParOf" srcId="{F3628AB8-98EC-9947-85B6-9272E76D33D1}" destId="{F7232D05-E617-9448-95BF-E7372EF012DB}" srcOrd="0" destOrd="0" presId="urn:microsoft.com/office/officeart/2005/8/layout/vList5"/>
    <dgm:cxn modelId="{4C7B62D9-2523-AF47-83E3-7E3C11079DDE}" type="presParOf" srcId="{F7232D05-E617-9448-95BF-E7372EF012DB}" destId="{339CB9F2-5CF5-1A47-A29F-54067442EB2B}" srcOrd="0" destOrd="0" presId="urn:microsoft.com/office/officeart/2005/8/layout/vList5"/>
    <dgm:cxn modelId="{1A7CC894-1BD0-1046-9592-F4E2B933722E}" type="presParOf" srcId="{F3628AB8-98EC-9947-85B6-9272E76D33D1}" destId="{2DC27C6C-1C4E-2D48-90D9-028BE711B1FB}" srcOrd="1" destOrd="0" presId="urn:microsoft.com/office/officeart/2005/8/layout/vList5"/>
    <dgm:cxn modelId="{07002E4B-1A3E-2447-8B28-3893A0F7D693}" type="presParOf" srcId="{F3628AB8-98EC-9947-85B6-9272E76D33D1}" destId="{9EFC564D-74B8-5A4C-80FA-FF0C6DF5ED9B}" srcOrd="2" destOrd="0" presId="urn:microsoft.com/office/officeart/2005/8/layout/vList5"/>
    <dgm:cxn modelId="{4C767250-4B15-8443-82B3-5A359EEF0945}" type="presParOf" srcId="{9EFC564D-74B8-5A4C-80FA-FF0C6DF5ED9B}" destId="{39707687-0D9F-B242-BBBF-0B2B167A1E61}" srcOrd="0" destOrd="0" presId="urn:microsoft.com/office/officeart/2005/8/layout/vList5"/>
    <dgm:cxn modelId="{E29DF541-2BCA-8D4D-A8DD-371765C40B89}" type="presParOf" srcId="{F3628AB8-98EC-9947-85B6-9272E76D33D1}" destId="{03D5532C-5AE0-5B4C-BF98-1E517705F914}" srcOrd="3" destOrd="0" presId="urn:microsoft.com/office/officeart/2005/8/layout/vList5"/>
    <dgm:cxn modelId="{AB819CEC-8743-424B-92A0-7C932A5D7F71}" type="presParOf" srcId="{F3628AB8-98EC-9947-85B6-9272E76D33D1}" destId="{DA05580C-3095-B448-9E85-4BC26C5B0D63}" srcOrd="4" destOrd="0" presId="urn:microsoft.com/office/officeart/2005/8/layout/vList5"/>
    <dgm:cxn modelId="{D931F3DB-4EB6-F64A-BC9D-E92D6ECF522E}" type="presParOf" srcId="{DA05580C-3095-B448-9E85-4BC26C5B0D63}" destId="{FD5AC714-EA82-8A4A-983F-C36BF0206A1C}" srcOrd="0" destOrd="0" presId="urn:microsoft.com/office/officeart/2005/8/layout/vList5"/>
    <dgm:cxn modelId="{6CDF8B7B-8A5B-454D-95A9-7CFEFD003795}" type="presParOf" srcId="{F3628AB8-98EC-9947-85B6-9272E76D33D1}" destId="{09DFB00C-5103-004B-B64A-E0EDE140BB51}" srcOrd="5" destOrd="0" presId="urn:microsoft.com/office/officeart/2005/8/layout/vList5"/>
    <dgm:cxn modelId="{BF1A56EE-6156-624A-B9DB-3D2F4DC7AF3B}" type="presParOf" srcId="{F3628AB8-98EC-9947-85B6-9272E76D33D1}" destId="{7FEF848B-152B-DF4B-9FBA-D27DE43F2DCA}" srcOrd="6" destOrd="0" presId="urn:microsoft.com/office/officeart/2005/8/layout/vList5"/>
    <dgm:cxn modelId="{C13A7326-7FE9-8B43-A49F-AE50DC581CDF}" type="presParOf" srcId="{7FEF848B-152B-DF4B-9FBA-D27DE43F2DCA}" destId="{6EF0514D-CC82-BD49-9DFB-B3E9D3B80064}" srcOrd="0" destOrd="0" presId="urn:microsoft.com/office/officeart/2005/8/layout/vList5"/>
    <dgm:cxn modelId="{024DDC65-C900-7041-84B2-74F0525D52F9}" type="presParOf" srcId="{F3628AB8-98EC-9947-85B6-9272E76D33D1}" destId="{AFF947E9-9E20-1445-9FA7-60FF81A57D30}" srcOrd="7" destOrd="0" presId="urn:microsoft.com/office/officeart/2005/8/layout/vList5"/>
    <dgm:cxn modelId="{E8C3FC28-4604-9F41-85D5-9A12B4F6C1ED}" type="presParOf" srcId="{F3628AB8-98EC-9947-85B6-9272E76D33D1}" destId="{8F1F5D06-7837-344A-BA7C-50791628C553}" srcOrd="8" destOrd="0" presId="urn:microsoft.com/office/officeart/2005/8/layout/vList5"/>
    <dgm:cxn modelId="{2E1EAA7B-B5C3-324B-8EFA-D2A75912C3D1}" type="presParOf" srcId="{8F1F5D06-7837-344A-BA7C-50791628C553}" destId="{98316E97-5D64-3247-9819-55CD1D6146FF}" srcOrd="0" destOrd="0" presId="urn:microsoft.com/office/officeart/2005/8/layout/vList5"/>
    <dgm:cxn modelId="{759AEF30-B33A-BB43-B03B-B0CC7A8BC0C9}" type="presParOf" srcId="{F3628AB8-98EC-9947-85B6-9272E76D33D1}" destId="{F108F548-4C3F-574C-B004-2788F7FB3749}" srcOrd="9" destOrd="0" presId="urn:microsoft.com/office/officeart/2005/8/layout/vList5"/>
    <dgm:cxn modelId="{70013270-EAF5-9846-A667-DC4E42AC7308}" type="presParOf" srcId="{F3628AB8-98EC-9947-85B6-9272E76D33D1}" destId="{7B5FF2BD-4DA7-EC44-B010-9BA859EE0F6C}" srcOrd="10" destOrd="0" presId="urn:microsoft.com/office/officeart/2005/8/layout/vList5"/>
    <dgm:cxn modelId="{38B50C11-B477-D545-8A13-6FACE7B48173}" type="presParOf" srcId="{7B5FF2BD-4DA7-EC44-B010-9BA859EE0F6C}" destId="{AD4ED9FC-2248-3349-A1CA-32B639AF6A4C}" srcOrd="0" destOrd="0" presId="urn:microsoft.com/office/officeart/2005/8/layout/vList5"/>
    <dgm:cxn modelId="{F0BEC68E-A8AA-9246-AAD3-0543B7371D84}" type="presParOf" srcId="{F3628AB8-98EC-9947-85B6-9272E76D33D1}" destId="{BE48E288-5ABE-A246-8FF0-F73198A56A84}" srcOrd="11" destOrd="0" presId="urn:microsoft.com/office/officeart/2005/8/layout/vList5"/>
    <dgm:cxn modelId="{D0EAABA7-895D-B247-ADE2-1C85A9AC1936}" type="presParOf" srcId="{F3628AB8-98EC-9947-85B6-9272E76D33D1}" destId="{30768211-2C5C-E64A-9641-3FD406953A54}" srcOrd="12" destOrd="0" presId="urn:microsoft.com/office/officeart/2005/8/layout/vList5"/>
    <dgm:cxn modelId="{3271F496-94CA-0940-B512-79ADF31F7459}" type="presParOf" srcId="{30768211-2C5C-E64A-9641-3FD406953A54}" destId="{F9A5F1C6-2BBD-C34B-9F17-A01943E3E093}" srcOrd="0" destOrd="0" presId="urn:microsoft.com/office/officeart/2005/8/layout/vList5"/>
    <dgm:cxn modelId="{0A93B3EC-9349-C34F-A1A5-3A8B31B6D3A7}" type="presParOf" srcId="{F3628AB8-98EC-9947-85B6-9272E76D33D1}" destId="{70B82F66-0507-0D46-B470-78F9012D474F}" srcOrd="13" destOrd="0" presId="urn:microsoft.com/office/officeart/2005/8/layout/vList5"/>
    <dgm:cxn modelId="{DBCD00CA-F9CD-3C44-8D97-255F7843F196}" type="presParOf" srcId="{F3628AB8-98EC-9947-85B6-9272E76D33D1}" destId="{069D6F7B-58F1-1248-84D3-ABF504FE7F70}" srcOrd="14" destOrd="0" presId="urn:microsoft.com/office/officeart/2005/8/layout/vList5"/>
    <dgm:cxn modelId="{C90BBCED-C958-3A4B-97C0-5B4FE2388B0F}" type="presParOf" srcId="{069D6F7B-58F1-1248-84D3-ABF504FE7F70}" destId="{D9EE11CE-A95F-194D-A383-871376E80065}" srcOrd="0" destOrd="0" presId="urn:microsoft.com/office/officeart/2005/8/layout/vList5"/>
    <dgm:cxn modelId="{CF32BAAC-94A5-8D4D-9190-B75D6EE831D4}" type="presParOf" srcId="{F3628AB8-98EC-9947-85B6-9272E76D33D1}" destId="{B050FB7F-8AD3-C449-9B18-DCF5A30DAA91}" srcOrd="15" destOrd="0" presId="urn:microsoft.com/office/officeart/2005/8/layout/vList5"/>
    <dgm:cxn modelId="{14214F1E-4344-5E47-B2A4-BBFF188F367C}" type="presParOf" srcId="{F3628AB8-98EC-9947-85B6-9272E76D33D1}" destId="{D46F9F6F-24B7-1641-8CB4-4CCA8E80BB95}" srcOrd="16" destOrd="0" presId="urn:microsoft.com/office/officeart/2005/8/layout/vList5"/>
    <dgm:cxn modelId="{85E10BBA-BB85-5548-9ED2-E7B02ECFE996}" type="presParOf" srcId="{D46F9F6F-24B7-1641-8CB4-4CCA8E80BB95}" destId="{90C00FF3-4AF5-EA48-B9F9-E7FBA1C2650A}" srcOrd="0" destOrd="0" presId="urn:microsoft.com/office/officeart/2005/8/layout/vList5"/>
    <dgm:cxn modelId="{F018D700-88B0-3544-B154-EF52486652F0}" type="presParOf" srcId="{F3628AB8-98EC-9947-85B6-9272E76D33D1}" destId="{74B9BF0E-9626-AD48-9704-BA3C47847B47}" srcOrd="17" destOrd="0" presId="urn:microsoft.com/office/officeart/2005/8/layout/vList5"/>
    <dgm:cxn modelId="{E7A84461-BD99-AA47-9B4B-E8F54B62532E}" type="presParOf" srcId="{F3628AB8-98EC-9947-85B6-9272E76D33D1}" destId="{02CF34D5-495B-2D46-8EE4-1D57E3AC0160}" srcOrd="18" destOrd="0" presId="urn:microsoft.com/office/officeart/2005/8/layout/vList5"/>
    <dgm:cxn modelId="{DA647952-C896-A941-9779-8CF57F0CADE1}" type="presParOf" srcId="{02CF34D5-495B-2D46-8EE4-1D57E3AC0160}" destId="{4EA9B9EC-71CC-F24F-83A2-E7153223BD3F}" srcOrd="0" destOrd="0" presId="urn:microsoft.com/office/officeart/2005/8/layout/vList5"/>
    <dgm:cxn modelId="{A6A89F75-EA89-6C47-B018-C50270CBF308}" type="presParOf" srcId="{F3628AB8-98EC-9947-85B6-9272E76D33D1}" destId="{9E54D0DD-FEFE-934E-AA2C-DAF42C04B1A3}" srcOrd="19" destOrd="0" presId="urn:microsoft.com/office/officeart/2005/8/layout/vList5"/>
    <dgm:cxn modelId="{0FFE5BAC-E37C-1642-8DF2-3261027DFA00}" type="presParOf" srcId="{F3628AB8-98EC-9947-85B6-9272E76D33D1}" destId="{AACF6FC1-C63D-C848-8E90-072B36034026}" srcOrd="20" destOrd="0" presId="urn:microsoft.com/office/officeart/2005/8/layout/vList5"/>
    <dgm:cxn modelId="{54A447C8-F8DA-AE41-9118-A6BA89AF0F3E}" type="presParOf" srcId="{AACF6FC1-C63D-C848-8E90-072B36034026}" destId="{38192E26-F71B-E341-B91C-55049BDDEB6D}" srcOrd="0" destOrd="0" presId="urn:microsoft.com/office/officeart/2005/8/layout/vList5"/>
    <dgm:cxn modelId="{339EB40E-0601-924A-91DD-AF14E248D8EA}" type="presParOf" srcId="{F3628AB8-98EC-9947-85B6-9272E76D33D1}" destId="{6F64EBE3-3E3A-7F40-AB19-3854D175BB3E}" srcOrd="21" destOrd="0" presId="urn:microsoft.com/office/officeart/2005/8/layout/vList5"/>
    <dgm:cxn modelId="{5DBF7CDC-D8E9-1A4F-86D8-91B29A89F88A}" type="presParOf" srcId="{F3628AB8-98EC-9947-85B6-9272E76D33D1}" destId="{5C0507C0-88E9-2448-B4B0-227D826CD474}" srcOrd="22" destOrd="0" presId="urn:microsoft.com/office/officeart/2005/8/layout/vList5"/>
    <dgm:cxn modelId="{317E29E5-3C5E-6148-91CA-3BCADD2FD69A}" type="presParOf" srcId="{5C0507C0-88E9-2448-B4B0-227D826CD474}" destId="{DA865FAE-9FFD-F847-898C-E5C5DCE8AD57}" srcOrd="0" destOrd="0" presId="urn:microsoft.com/office/officeart/2005/8/layout/vList5"/>
    <dgm:cxn modelId="{9DED69CB-383A-7D49-B10F-B6CF114F9B7F}" type="presParOf" srcId="{F3628AB8-98EC-9947-85B6-9272E76D33D1}" destId="{BC95766C-D1DC-124F-A85D-9A8C6450ADF6}" srcOrd="23" destOrd="0" presId="urn:microsoft.com/office/officeart/2005/8/layout/vList5"/>
    <dgm:cxn modelId="{234F0768-369A-B948-977C-69A932A0A981}" type="presParOf" srcId="{F3628AB8-98EC-9947-85B6-9272E76D33D1}" destId="{BA0F6135-4002-8A46-84DA-45FB07FDB8B9}" srcOrd="24" destOrd="0" presId="urn:microsoft.com/office/officeart/2005/8/layout/vList5"/>
    <dgm:cxn modelId="{53F684C9-CD30-DC42-8EC5-39270AEB81BA}" type="presParOf" srcId="{BA0F6135-4002-8A46-84DA-45FB07FDB8B9}" destId="{EDBE2F5B-37F9-154A-B3B2-577E2D9D9C73}" srcOrd="0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B37E118-88B2-4B9B-8265-21F504782043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A4660DBD-3ED0-4D94-BE8F-44763C443024}">
      <dgm:prSet custT="1"/>
      <dgm:spPr/>
      <dgm:t>
        <a:bodyPr/>
        <a:lstStyle/>
        <a:p>
          <a:r>
            <a:rPr lang="en-US" sz="2000"/>
            <a:t>Airline</a:t>
          </a:r>
        </a:p>
      </dgm:t>
    </dgm:pt>
    <dgm:pt modelId="{97AE681A-C5BC-44CF-A387-1CDECDDAE2EA}" type="parTrans" cxnId="{378D1303-8722-4F6A-82C2-B368B9568F6F}">
      <dgm:prSet/>
      <dgm:spPr/>
      <dgm:t>
        <a:bodyPr/>
        <a:lstStyle/>
        <a:p>
          <a:endParaRPr lang="en-US"/>
        </a:p>
      </dgm:t>
    </dgm:pt>
    <dgm:pt modelId="{15E2E561-E07A-46DE-9708-73111144B0C4}" type="sibTrans" cxnId="{378D1303-8722-4F6A-82C2-B368B9568F6F}">
      <dgm:prSet/>
      <dgm:spPr/>
      <dgm:t>
        <a:bodyPr/>
        <a:lstStyle/>
        <a:p>
          <a:endParaRPr lang="en-US"/>
        </a:p>
      </dgm:t>
    </dgm:pt>
    <dgm:pt modelId="{BF2A15C7-6074-4E75-9452-4EC825AA2CCA}">
      <dgm:prSet/>
      <dgm:spPr/>
      <dgm:t>
        <a:bodyPr/>
        <a:lstStyle/>
        <a:p>
          <a:r>
            <a:rPr lang="en-US"/>
            <a:t>OP_CARRIER_AIRLINE_ID → OP_UNIQUE_CARRIER</a:t>
          </a:r>
        </a:p>
      </dgm:t>
    </dgm:pt>
    <dgm:pt modelId="{08D7FFB6-4D14-404D-9017-F9E8332AD44C}" type="parTrans" cxnId="{A264194D-6D5F-4A42-A037-593307569004}">
      <dgm:prSet/>
      <dgm:spPr/>
      <dgm:t>
        <a:bodyPr/>
        <a:lstStyle/>
        <a:p>
          <a:endParaRPr lang="en-US"/>
        </a:p>
      </dgm:t>
    </dgm:pt>
    <dgm:pt modelId="{22BC4D11-F88B-4B16-ADBA-2E6682FB84E8}" type="sibTrans" cxnId="{A264194D-6D5F-4A42-A037-593307569004}">
      <dgm:prSet/>
      <dgm:spPr/>
      <dgm:t>
        <a:bodyPr/>
        <a:lstStyle/>
        <a:p>
          <a:endParaRPr lang="en-US"/>
        </a:p>
      </dgm:t>
    </dgm:pt>
    <dgm:pt modelId="{74D88330-327D-469D-BA9B-3BD220141EEB}">
      <dgm:prSet custT="1"/>
      <dgm:spPr/>
      <dgm:t>
        <a:bodyPr/>
        <a:lstStyle/>
        <a:p>
          <a:r>
            <a:rPr lang="en-US" sz="2000"/>
            <a:t>Airport</a:t>
          </a:r>
        </a:p>
      </dgm:t>
    </dgm:pt>
    <dgm:pt modelId="{8A79F8F1-6828-41B0-ACD6-0DFA2CA3EDDB}" type="parTrans" cxnId="{896822E7-EE95-43B3-AD4C-B595CB67D619}">
      <dgm:prSet/>
      <dgm:spPr/>
      <dgm:t>
        <a:bodyPr/>
        <a:lstStyle/>
        <a:p>
          <a:endParaRPr lang="en-US"/>
        </a:p>
      </dgm:t>
    </dgm:pt>
    <dgm:pt modelId="{2D75E445-AC01-4415-9FF6-DA19AB7E1722}" type="sibTrans" cxnId="{896822E7-EE95-43B3-AD4C-B595CB67D619}">
      <dgm:prSet/>
      <dgm:spPr/>
      <dgm:t>
        <a:bodyPr/>
        <a:lstStyle/>
        <a:p>
          <a:endParaRPr lang="en-US"/>
        </a:p>
      </dgm:t>
    </dgm:pt>
    <dgm:pt modelId="{03D4E632-17F3-4B90-99CC-D78F77409D41}">
      <dgm:prSet/>
      <dgm:spPr/>
      <dgm:t>
        <a:bodyPr/>
        <a:lstStyle/>
        <a:p>
          <a:r>
            <a:rPr lang="en-US"/>
            <a:t>AIRPORT_ID → IATA_CODE, CITY_NAME, STATE_ABR</a:t>
          </a:r>
        </a:p>
      </dgm:t>
    </dgm:pt>
    <dgm:pt modelId="{7D800368-4C57-49F8-B387-68AF804DB124}" type="parTrans" cxnId="{C467EE0E-9082-49FA-9E0E-7D24BD99BA9A}">
      <dgm:prSet/>
      <dgm:spPr/>
      <dgm:t>
        <a:bodyPr/>
        <a:lstStyle/>
        <a:p>
          <a:endParaRPr lang="en-US"/>
        </a:p>
      </dgm:t>
    </dgm:pt>
    <dgm:pt modelId="{5032DA7A-8DDB-4FA8-9638-C2F72522037E}" type="sibTrans" cxnId="{C467EE0E-9082-49FA-9E0E-7D24BD99BA9A}">
      <dgm:prSet/>
      <dgm:spPr/>
      <dgm:t>
        <a:bodyPr/>
        <a:lstStyle/>
        <a:p>
          <a:endParaRPr lang="en-US"/>
        </a:p>
      </dgm:t>
    </dgm:pt>
    <dgm:pt modelId="{EE0575C7-4D08-4ADC-BD82-05977485095C}">
      <dgm:prSet custT="1"/>
      <dgm:spPr/>
      <dgm:t>
        <a:bodyPr/>
        <a:lstStyle/>
        <a:p>
          <a:r>
            <a:rPr lang="en-US" sz="2000" dirty="0"/>
            <a:t>State</a:t>
          </a:r>
        </a:p>
      </dgm:t>
    </dgm:pt>
    <dgm:pt modelId="{3728B987-A5E2-404D-9A80-9C326DFA9D91}" type="parTrans" cxnId="{C833F3D7-BF0C-4301-B127-F81390E942BB}">
      <dgm:prSet/>
      <dgm:spPr/>
      <dgm:t>
        <a:bodyPr/>
        <a:lstStyle/>
        <a:p>
          <a:endParaRPr lang="en-US"/>
        </a:p>
      </dgm:t>
    </dgm:pt>
    <dgm:pt modelId="{C72D90B1-AD92-4420-89D7-F80CEA940CA2}" type="sibTrans" cxnId="{C833F3D7-BF0C-4301-B127-F81390E942BB}">
      <dgm:prSet/>
      <dgm:spPr/>
      <dgm:t>
        <a:bodyPr/>
        <a:lstStyle/>
        <a:p>
          <a:endParaRPr lang="en-US"/>
        </a:p>
      </dgm:t>
    </dgm:pt>
    <dgm:pt modelId="{3B20444B-2E99-428E-A573-C121B0700988}">
      <dgm:prSet/>
      <dgm:spPr/>
      <dgm:t>
        <a:bodyPr/>
        <a:lstStyle/>
        <a:p>
          <a:r>
            <a:rPr lang="en-US"/>
            <a:t>From state lookup file: STATE_ABR → STATE_NM</a:t>
          </a:r>
        </a:p>
      </dgm:t>
    </dgm:pt>
    <dgm:pt modelId="{AACB0CA4-F761-4DCB-ABD6-51E8D214CF3B}" type="parTrans" cxnId="{71C848A8-591A-4EBD-B183-87ED54E3879F}">
      <dgm:prSet/>
      <dgm:spPr/>
      <dgm:t>
        <a:bodyPr/>
        <a:lstStyle/>
        <a:p>
          <a:endParaRPr lang="en-US"/>
        </a:p>
      </dgm:t>
    </dgm:pt>
    <dgm:pt modelId="{0098BFA8-CB2B-464D-AD9C-E6AF529EE8A6}" type="sibTrans" cxnId="{71C848A8-591A-4EBD-B183-87ED54E3879F}">
      <dgm:prSet/>
      <dgm:spPr/>
      <dgm:t>
        <a:bodyPr/>
        <a:lstStyle/>
        <a:p>
          <a:endParaRPr lang="en-US"/>
        </a:p>
      </dgm:t>
    </dgm:pt>
    <dgm:pt modelId="{EABEB5B9-A7E0-48A3-B40D-17AEF979B040}">
      <dgm:prSet custT="1"/>
      <dgm:spPr/>
      <dgm:t>
        <a:bodyPr/>
        <a:lstStyle/>
        <a:p>
          <a:r>
            <a:rPr lang="en-US" sz="2000" dirty="0"/>
            <a:t>Time</a:t>
          </a:r>
          <a:r>
            <a:rPr lang="en-US" sz="2500" dirty="0"/>
            <a:t> </a:t>
          </a:r>
          <a:r>
            <a:rPr lang="en-US" sz="2000" dirty="0"/>
            <a:t>Period</a:t>
          </a:r>
        </a:p>
      </dgm:t>
    </dgm:pt>
    <dgm:pt modelId="{B2AC9A30-5126-4227-BB0A-DA8EF486864B}" type="parTrans" cxnId="{D9EB5A63-02FC-4F4A-94E2-489AC72DE79D}">
      <dgm:prSet/>
      <dgm:spPr/>
      <dgm:t>
        <a:bodyPr/>
        <a:lstStyle/>
        <a:p>
          <a:endParaRPr lang="en-US"/>
        </a:p>
      </dgm:t>
    </dgm:pt>
    <dgm:pt modelId="{2B15E80E-2B16-4022-A7BF-4A70CDD3CE7E}" type="sibTrans" cxnId="{D9EB5A63-02FC-4F4A-94E2-489AC72DE79D}">
      <dgm:prSet/>
      <dgm:spPr/>
      <dgm:t>
        <a:bodyPr/>
        <a:lstStyle/>
        <a:p>
          <a:endParaRPr lang="en-US"/>
        </a:p>
      </dgm:t>
    </dgm:pt>
    <dgm:pt modelId="{3E9547AE-92BB-45F2-9091-05B7DD228A88}">
      <dgm:prSet/>
      <dgm:spPr/>
      <dgm:t>
        <a:bodyPr/>
        <a:lstStyle/>
        <a:p>
          <a:r>
            <a:rPr lang="en-US"/>
            <a:t>FL_DATE → YEAR, QUARTER, MONTH, DAY_OF_MONTH, DAY_OF_WEEK</a:t>
          </a:r>
        </a:p>
      </dgm:t>
    </dgm:pt>
    <dgm:pt modelId="{D8D0B4C4-A3CE-4A24-B980-C968A94B3AB8}" type="parTrans" cxnId="{87496369-533F-452A-96DD-180CB7FD3EE8}">
      <dgm:prSet/>
      <dgm:spPr/>
      <dgm:t>
        <a:bodyPr/>
        <a:lstStyle/>
        <a:p>
          <a:endParaRPr lang="en-US"/>
        </a:p>
      </dgm:t>
    </dgm:pt>
    <dgm:pt modelId="{57BDA5A8-CF75-4BB0-B568-7547F492CC48}" type="sibTrans" cxnId="{87496369-533F-452A-96DD-180CB7FD3EE8}">
      <dgm:prSet/>
      <dgm:spPr/>
      <dgm:t>
        <a:bodyPr/>
        <a:lstStyle/>
        <a:p>
          <a:endParaRPr lang="en-US"/>
        </a:p>
      </dgm:t>
    </dgm:pt>
    <dgm:pt modelId="{69F76628-E0EA-4DC4-8845-A169A51CBD21}">
      <dgm:prSet custT="1"/>
      <dgm:spPr/>
      <dgm:t>
        <a:bodyPr/>
        <a:lstStyle/>
        <a:p>
          <a:r>
            <a:rPr lang="en-US" sz="2000" dirty="0"/>
            <a:t>Cancellation</a:t>
          </a:r>
        </a:p>
      </dgm:t>
    </dgm:pt>
    <dgm:pt modelId="{2536D26A-34F9-4C55-B3F0-EB9D183483AA}" type="parTrans" cxnId="{31F3E335-7AF6-4BB7-896A-48C76C92230B}">
      <dgm:prSet/>
      <dgm:spPr/>
      <dgm:t>
        <a:bodyPr/>
        <a:lstStyle/>
        <a:p>
          <a:endParaRPr lang="en-US"/>
        </a:p>
      </dgm:t>
    </dgm:pt>
    <dgm:pt modelId="{2E9AA419-4A64-40B7-8763-C9E2665AAC2D}" type="sibTrans" cxnId="{31F3E335-7AF6-4BB7-896A-48C76C92230B}">
      <dgm:prSet/>
      <dgm:spPr/>
      <dgm:t>
        <a:bodyPr/>
        <a:lstStyle/>
        <a:p>
          <a:endParaRPr lang="en-US"/>
        </a:p>
      </dgm:t>
    </dgm:pt>
    <dgm:pt modelId="{336397E9-AB62-48E4-B295-29B0275A9A1D}">
      <dgm:prSet/>
      <dgm:spPr/>
      <dgm:t>
        <a:bodyPr/>
        <a:lstStyle/>
        <a:p>
          <a:r>
            <a:rPr lang="en-US"/>
            <a:t>From cancellation lookup file: CANCELLATION_CODE → DESCRIPTION</a:t>
          </a:r>
        </a:p>
      </dgm:t>
    </dgm:pt>
    <dgm:pt modelId="{59AE9B93-78B0-4EAD-9A9D-6C6FA1990188}" type="parTrans" cxnId="{19CB639B-5473-4323-A9B0-FDCE04F6AB8C}">
      <dgm:prSet/>
      <dgm:spPr/>
      <dgm:t>
        <a:bodyPr/>
        <a:lstStyle/>
        <a:p>
          <a:endParaRPr lang="en-US"/>
        </a:p>
      </dgm:t>
    </dgm:pt>
    <dgm:pt modelId="{AAD29CDF-7544-41A1-9725-FCF272A71CFE}" type="sibTrans" cxnId="{19CB639B-5473-4323-A9B0-FDCE04F6AB8C}">
      <dgm:prSet/>
      <dgm:spPr/>
      <dgm:t>
        <a:bodyPr/>
        <a:lstStyle/>
        <a:p>
          <a:endParaRPr lang="en-US"/>
        </a:p>
      </dgm:t>
    </dgm:pt>
    <dgm:pt modelId="{EFA01260-785A-4CB8-AF6D-961F34A6DAD7}">
      <dgm:prSet custT="1"/>
      <dgm:spPr/>
      <dgm:t>
        <a:bodyPr/>
        <a:lstStyle/>
        <a:p>
          <a:r>
            <a:rPr lang="en-US" sz="2000" dirty="0"/>
            <a:t>Delay</a:t>
          </a:r>
          <a:r>
            <a:rPr lang="en-US" sz="2500" dirty="0"/>
            <a:t> </a:t>
          </a:r>
          <a:r>
            <a:rPr lang="en-US" sz="2000" dirty="0"/>
            <a:t>Type</a:t>
          </a:r>
        </a:p>
      </dgm:t>
    </dgm:pt>
    <dgm:pt modelId="{31BA90E5-7601-4D81-992A-37313E3ACEE2}" type="parTrans" cxnId="{03B07650-68F6-4C8E-A1B3-CF8EBECCD9B5}">
      <dgm:prSet/>
      <dgm:spPr/>
      <dgm:t>
        <a:bodyPr/>
        <a:lstStyle/>
        <a:p>
          <a:endParaRPr lang="en-US"/>
        </a:p>
      </dgm:t>
    </dgm:pt>
    <dgm:pt modelId="{D29FA85D-1FE4-4DE5-ACC5-4AD88002C303}" type="sibTrans" cxnId="{03B07650-68F6-4C8E-A1B3-CF8EBECCD9B5}">
      <dgm:prSet/>
      <dgm:spPr/>
      <dgm:t>
        <a:bodyPr/>
        <a:lstStyle/>
        <a:p>
          <a:endParaRPr lang="en-US"/>
        </a:p>
      </dgm:t>
    </dgm:pt>
    <dgm:pt modelId="{826CCAD6-3139-4C72-ADD8-1ACE989E0D16}">
      <dgm:prSet/>
      <dgm:spPr/>
      <dgm:t>
        <a:bodyPr/>
        <a:lstStyle/>
        <a:p>
          <a:r>
            <a:rPr lang="en-US"/>
            <a:t>DELAY_ID → NAME</a:t>
          </a:r>
        </a:p>
      </dgm:t>
    </dgm:pt>
    <dgm:pt modelId="{8BE8A064-28B6-43F0-8AB9-94DA9534173A}" type="parTrans" cxnId="{6E82C86A-9A48-4A6D-B94F-27E17FF78C82}">
      <dgm:prSet/>
      <dgm:spPr/>
      <dgm:t>
        <a:bodyPr/>
        <a:lstStyle/>
        <a:p>
          <a:endParaRPr lang="en-US"/>
        </a:p>
      </dgm:t>
    </dgm:pt>
    <dgm:pt modelId="{F813A5E5-96E0-48E1-8AB9-7C742931F67E}" type="sibTrans" cxnId="{6E82C86A-9A48-4A6D-B94F-27E17FF78C82}">
      <dgm:prSet/>
      <dgm:spPr/>
      <dgm:t>
        <a:bodyPr/>
        <a:lstStyle/>
        <a:p>
          <a:endParaRPr lang="en-US"/>
        </a:p>
      </dgm:t>
    </dgm:pt>
    <dgm:pt modelId="{8F585B5F-7DEC-4BDE-A8BF-869332B04AF3}">
      <dgm:prSet custT="1"/>
      <dgm:spPr/>
      <dgm:t>
        <a:bodyPr/>
        <a:lstStyle/>
        <a:p>
          <a:r>
            <a:rPr lang="en-US" sz="2000" dirty="0"/>
            <a:t>Route</a:t>
          </a:r>
        </a:p>
      </dgm:t>
    </dgm:pt>
    <dgm:pt modelId="{7B614A71-799A-4C2E-8F96-54850B21036C}" type="parTrans" cxnId="{BA165B0F-7EB6-4545-97DF-D9EE5312EC0A}">
      <dgm:prSet/>
      <dgm:spPr/>
      <dgm:t>
        <a:bodyPr/>
        <a:lstStyle/>
        <a:p>
          <a:endParaRPr lang="en-US"/>
        </a:p>
      </dgm:t>
    </dgm:pt>
    <dgm:pt modelId="{34EE0B70-9BC0-44AB-9F33-FCFB2DB9DB66}" type="sibTrans" cxnId="{BA165B0F-7EB6-4545-97DF-D9EE5312EC0A}">
      <dgm:prSet/>
      <dgm:spPr/>
      <dgm:t>
        <a:bodyPr/>
        <a:lstStyle/>
        <a:p>
          <a:endParaRPr lang="en-US"/>
        </a:p>
      </dgm:t>
    </dgm:pt>
    <dgm:pt modelId="{B37DA8AE-68F1-43DF-87E8-31F2CD585A69}">
      <dgm:prSet/>
      <dgm:spPr/>
      <dgm:t>
        <a:bodyPr/>
        <a:lstStyle/>
        <a:p>
          <a:r>
            <a:rPr lang="en-US" dirty="0"/>
            <a:t>ROUTE_ID → ORIGIN_AIRPORT_ID, DEST_AIRPORT_ID, DISTANCE</a:t>
          </a:r>
        </a:p>
      </dgm:t>
    </dgm:pt>
    <dgm:pt modelId="{27276A3B-A78C-412C-A3FB-3D775C4AE360}" type="parTrans" cxnId="{9957C17D-6287-447A-AB0C-1041B6D3FB1A}">
      <dgm:prSet/>
      <dgm:spPr/>
      <dgm:t>
        <a:bodyPr/>
        <a:lstStyle/>
        <a:p>
          <a:endParaRPr lang="en-US"/>
        </a:p>
      </dgm:t>
    </dgm:pt>
    <dgm:pt modelId="{56B31E47-A769-4F1B-B01E-4DE1067AD4D8}" type="sibTrans" cxnId="{9957C17D-6287-447A-AB0C-1041B6D3FB1A}">
      <dgm:prSet/>
      <dgm:spPr/>
      <dgm:t>
        <a:bodyPr/>
        <a:lstStyle/>
        <a:p>
          <a:endParaRPr lang="en-US"/>
        </a:p>
      </dgm:t>
    </dgm:pt>
    <dgm:pt modelId="{CBBCD4F3-0CCE-4CD2-9A9B-69C7846AC559}">
      <dgm:prSet custT="1"/>
      <dgm:spPr/>
      <dgm:t>
        <a:bodyPr/>
        <a:lstStyle/>
        <a:p>
          <a:r>
            <a:rPr lang="en-US" sz="2000" dirty="0"/>
            <a:t>Diversion</a:t>
          </a:r>
          <a:r>
            <a:rPr lang="en-US" sz="2500" dirty="0"/>
            <a:t> </a:t>
          </a:r>
          <a:r>
            <a:rPr lang="en-US" sz="2000" dirty="0"/>
            <a:t>Details</a:t>
          </a:r>
        </a:p>
      </dgm:t>
    </dgm:pt>
    <dgm:pt modelId="{A2AE1DB3-5237-49BE-9F5C-C9BF57BF8ABF}" type="parTrans" cxnId="{1F58C6A4-0DD7-4AC8-A50D-D6688CB956C8}">
      <dgm:prSet/>
      <dgm:spPr/>
      <dgm:t>
        <a:bodyPr/>
        <a:lstStyle/>
        <a:p>
          <a:endParaRPr lang="en-US"/>
        </a:p>
      </dgm:t>
    </dgm:pt>
    <dgm:pt modelId="{C5CBBD63-1F2C-44CC-9996-A7C3E2C40087}" type="sibTrans" cxnId="{1F58C6A4-0DD7-4AC8-A50D-D6688CB956C8}">
      <dgm:prSet/>
      <dgm:spPr/>
      <dgm:t>
        <a:bodyPr/>
        <a:lstStyle/>
        <a:p>
          <a:endParaRPr lang="en-US"/>
        </a:p>
      </dgm:t>
    </dgm:pt>
    <dgm:pt modelId="{87D3D81A-F844-4CA5-961C-2F2E906C5459}">
      <dgm:prSet/>
      <dgm:spPr/>
      <dgm:t>
        <a:bodyPr/>
        <a:lstStyle/>
        <a:p>
          <a:r>
            <a:rPr lang="en-US"/>
            <a:t>(FLIGHT_ID, DIVERSION_NUMBER) → DIV_AIRPORT_ID, DIV_TOTAL_GTIME</a:t>
          </a:r>
        </a:p>
      </dgm:t>
    </dgm:pt>
    <dgm:pt modelId="{9E70166D-C5A6-4867-B286-0F2B02E98B41}" type="parTrans" cxnId="{049DC48C-DD98-41E8-AE6B-9E9506AEB6DC}">
      <dgm:prSet/>
      <dgm:spPr/>
      <dgm:t>
        <a:bodyPr/>
        <a:lstStyle/>
        <a:p>
          <a:endParaRPr lang="en-US"/>
        </a:p>
      </dgm:t>
    </dgm:pt>
    <dgm:pt modelId="{ECCD5ADC-C4AD-4D3F-A38A-76F2F3F99FE9}" type="sibTrans" cxnId="{049DC48C-DD98-41E8-AE6B-9E9506AEB6DC}">
      <dgm:prSet/>
      <dgm:spPr/>
      <dgm:t>
        <a:bodyPr/>
        <a:lstStyle/>
        <a:p>
          <a:endParaRPr lang="en-US"/>
        </a:p>
      </dgm:t>
    </dgm:pt>
    <dgm:pt modelId="{76418605-9EFF-824F-B56D-6319993F8200}" type="pres">
      <dgm:prSet presAssocID="{5B37E118-88B2-4B9B-8265-21F504782043}" presName="Name0" presStyleCnt="0">
        <dgm:presLayoutVars>
          <dgm:dir/>
          <dgm:animLvl val="lvl"/>
          <dgm:resizeHandles val="exact"/>
        </dgm:presLayoutVars>
      </dgm:prSet>
      <dgm:spPr/>
    </dgm:pt>
    <dgm:pt modelId="{BAA7CEBF-BC97-EC42-97E3-EC318E7896F5}" type="pres">
      <dgm:prSet presAssocID="{A4660DBD-3ED0-4D94-BE8F-44763C443024}" presName="linNode" presStyleCnt="0"/>
      <dgm:spPr/>
    </dgm:pt>
    <dgm:pt modelId="{48A7ACD3-57B9-2C4D-A9BC-7861AEB3B7B7}" type="pres">
      <dgm:prSet presAssocID="{A4660DBD-3ED0-4D94-BE8F-44763C443024}" presName="parentText" presStyleLbl="node1" presStyleIdx="0" presStyleCnt="8">
        <dgm:presLayoutVars>
          <dgm:chMax val="1"/>
          <dgm:bulletEnabled val="1"/>
        </dgm:presLayoutVars>
      </dgm:prSet>
      <dgm:spPr/>
    </dgm:pt>
    <dgm:pt modelId="{30F02E19-B784-8743-8F4C-E51F293FC50E}" type="pres">
      <dgm:prSet presAssocID="{A4660DBD-3ED0-4D94-BE8F-44763C443024}" presName="descendantText" presStyleLbl="alignAccFollowNode1" presStyleIdx="0" presStyleCnt="8">
        <dgm:presLayoutVars>
          <dgm:bulletEnabled val="1"/>
        </dgm:presLayoutVars>
      </dgm:prSet>
      <dgm:spPr/>
    </dgm:pt>
    <dgm:pt modelId="{7790301A-D813-A545-9811-9138B5AA2CF0}" type="pres">
      <dgm:prSet presAssocID="{15E2E561-E07A-46DE-9708-73111144B0C4}" presName="sp" presStyleCnt="0"/>
      <dgm:spPr/>
    </dgm:pt>
    <dgm:pt modelId="{3B72A2BF-3BE5-4648-9FB8-DEB22A73902A}" type="pres">
      <dgm:prSet presAssocID="{74D88330-327D-469D-BA9B-3BD220141EEB}" presName="linNode" presStyleCnt="0"/>
      <dgm:spPr/>
    </dgm:pt>
    <dgm:pt modelId="{D36A1B67-83C5-EB4D-B4DD-5C9BA958B006}" type="pres">
      <dgm:prSet presAssocID="{74D88330-327D-469D-BA9B-3BD220141EEB}" presName="parentText" presStyleLbl="node1" presStyleIdx="1" presStyleCnt="8">
        <dgm:presLayoutVars>
          <dgm:chMax val="1"/>
          <dgm:bulletEnabled val="1"/>
        </dgm:presLayoutVars>
      </dgm:prSet>
      <dgm:spPr/>
    </dgm:pt>
    <dgm:pt modelId="{1DC3007A-C62F-8441-8A2E-30D801EE9B6B}" type="pres">
      <dgm:prSet presAssocID="{74D88330-327D-469D-BA9B-3BD220141EEB}" presName="descendantText" presStyleLbl="alignAccFollowNode1" presStyleIdx="1" presStyleCnt="8">
        <dgm:presLayoutVars>
          <dgm:bulletEnabled val="1"/>
        </dgm:presLayoutVars>
      </dgm:prSet>
      <dgm:spPr/>
    </dgm:pt>
    <dgm:pt modelId="{BDA7166F-323F-8649-BAA0-D51DBBAC529A}" type="pres">
      <dgm:prSet presAssocID="{2D75E445-AC01-4415-9FF6-DA19AB7E1722}" presName="sp" presStyleCnt="0"/>
      <dgm:spPr/>
    </dgm:pt>
    <dgm:pt modelId="{15D9080F-06A1-2845-AAC2-44779EE0D5CB}" type="pres">
      <dgm:prSet presAssocID="{EE0575C7-4D08-4ADC-BD82-05977485095C}" presName="linNode" presStyleCnt="0"/>
      <dgm:spPr/>
    </dgm:pt>
    <dgm:pt modelId="{4532232A-F2EB-CD45-B1A3-D29CA012E5E7}" type="pres">
      <dgm:prSet presAssocID="{EE0575C7-4D08-4ADC-BD82-05977485095C}" presName="parentText" presStyleLbl="node1" presStyleIdx="2" presStyleCnt="8">
        <dgm:presLayoutVars>
          <dgm:chMax val="1"/>
          <dgm:bulletEnabled val="1"/>
        </dgm:presLayoutVars>
      </dgm:prSet>
      <dgm:spPr/>
    </dgm:pt>
    <dgm:pt modelId="{15D06DEB-E383-B54E-B2D4-2E3B08E7A360}" type="pres">
      <dgm:prSet presAssocID="{EE0575C7-4D08-4ADC-BD82-05977485095C}" presName="descendantText" presStyleLbl="alignAccFollowNode1" presStyleIdx="2" presStyleCnt="8">
        <dgm:presLayoutVars>
          <dgm:bulletEnabled val="1"/>
        </dgm:presLayoutVars>
      </dgm:prSet>
      <dgm:spPr/>
    </dgm:pt>
    <dgm:pt modelId="{9E4A3FAC-F0EC-3D42-A7C0-48433C1EF9B2}" type="pres">
      <dgm:prSet presAssocID="{C72D90B1-AD92-4420-89D7-F80CEA940CA2}" presName="sp" presStyleCnt="0"/>
      <dgm:spPr/>
    </dgm:pt>
    <dgm:pt modelId="{587EF039-E626-9449-BFD3-D1037C072B73}" type="pres">
      <dgm:prSet presAssocID="{EABEB5B9-A7E0-48A3-B40D-17AEF979B040}" presName="linNode" presStyleCnt="0"/>
      <dgm:spPr/>
    </dgm:pt>
    <dgm:pt modelId="{3C4D1F73-E13A-B24C-AFBC-612C06B6C42A}" type="pres">
      <dgm:prSet presAssocID="{EABEB5B9-A7E0-48A3-B40D-17AEF979B040}" presName="parentText" presStyleLbl="node1" presStyleIdx="3" presStyleCnt="8">
        <dgm:presLayoutVars>
          <dgm:chMax val="1"/>
          <dgm:bulletEnabled val="1"/>
        </dgm:presLayoutVars>
      </dgm:prSet>
      <dgm:spPr/>
    </dgm:pt>
    <dgm:pt modelId="{CFC8BE45-E34D-F44D-82FE-8D0AE329BF95}" type="pres">
      <dgm:prSet presAssocID="{EABEB5B9-A7E0-48A3-B40D-17AEF979B040}" presName="descendantText" presStyleLbl="alignAccFollowNode1" presStyleIdx="3" presStyleCnt="8">
        <dgm:presLayoutVars>
          <dgm:bulletEnabled val="1"/>
        </dgm:presLayoutVars>
      </dgm:prSet>
      <dgm:spPr/>
    </dgm:pt>
    <dgm:pt modelId="{8DFD7C51-FA31-6548-A200-D1306EDE1142}" type="pres">
      <dgm:prSet presAssocID="{2B15E80E-2B16-4022-A7BF-4A70CDD3CE7E}" presName="sp" presStyleCnt="0"/>
      <dgm:spPr/>
    </dgm:pt>
    <dgm:pt modelId="{5017236F-7A61-8C4E-89F6-7DDBCB8B1932}" type="pres">
      <dgm:prSet presAssocID="{69F76628-E0EA-4DC4-8845-A169A51CBD21}" presName="linNode" presStyleCnt="0"/>
      <dgm:spPr/>
    </dgm:pt>
    <dgm:pt modelId="{E4A7F004-9D33-4B43-BA94-593DFB1667EC}" type="pres">
      <dgm:prSet presAssocID="{69F76628-E0EA-4DC4-8845-A169A51CBD21}" presName="parentText" presStyleLbl="node1" presStyleIdx="4" presStyleCnt="8">
        <dgm:presLayoutVars>
          <dgm:chMax val="1"/>
          <dgm:bulletEnabled val="1"/>
        </dgm:presLayoutVars>
      </dgm:prSet>
      <dgm:spPr/>
    </dgm:pt>
    <dgm:pt modelId="{43E7B433-AEFE-394B-B520-8D4AF561FCD3}" type="pres">
      <dgm:prSet presAssocID="{69F76628-E0EA-4DC4-8845-A169A51CBD21}" presName="descendantText" presStyleLbl="alignAccFollowNode1" presStyleIdx="4" presStyleCnt="8">
        <dgm:presLayoutVars>
          <dgm:bulletEnabled val="1"/>
        </dgm:presLayoutVars>
      </dgm:prSet>
      <dgm:spPr/>
    </dgm:pt>
    <dgm:pt modelId="{4C44A804-18B4-AC47-BD38-AB7ABA49E59C}" type="pres">
      <dgm:prSet presAssocID="{2E9AA419-4A64-40B7-8763-C9E2665AAC2D}" presName="sp" presStyleCnt="0"/>
      <dgm:spPr/>
    </dgm:pt>
    <dgm:pt modelId="{0B0B186E-81AB-5C4B-AA3B-D8EDF2FBB567}" type="pres">
      <dgm:prSet presAssocID="{EFA01260-785A-4CB8-AF6D-961F34A6DAD7}" presName="linNode" presStyleCnt="0"/>
      <dgm:spPr/>
    </dgm:pt>
    <dgm:pt modelId="{866BE670-D02B-9145-B907-6A45C03514AC}" type="pres">
      <dgm:prSet presAssocID="{EFA01260-785A-4CB8-AF6D-961F34A6DAD7}" presName="parentText" presStyleLbl="node1" presStyleIdx="5" presStyleCnt="8">
        <dgm:presLayoutVars>
          <dgm:chMax val="1"/>
          <dgm:bulletEnabled val="1"/>
        </dgm:presLayoutVars>
      </dgm:prSet>
      <dgm:spPr/>
    </dgm:pt>
    <dgm:pt modelId="{2BE3991C-24AE-1749-94E4-520A40D88700}" type="pres">
      <dgm:prSet presAssocID="{EFA01260-785A-4CB8-AF6D-961F34A6DAD7}" presName="descendantText" presStyleLbl="alignAccFollowNode1" presStyleIdx="5" presStyleCnt="8">
        <dgm:presLayoutVars>
          <dgm:bulletEnabled val="1"/>
        </dgm:presLayoutVars>
      </dgm:prSet>
      <dgm:spPr/>
    </dgm:pt>
    <dgm:pt modelId="{7E628304-9C36-214D-948A-6A851DC8AC92}" type="pres">
      <dgm:prSet presAssocID="{D29FA85D-1FE4-4DE5-ACC5-4AD88002C303}" presName="sp" presStyleCnt="0"/>
      <dgm:spPr/>
    </dgm:pt>
    <dgm:pt modelId="{4AC23FC4-3C58-3441-854E-1D61F1265FDA}" type="pres">
      <dgm:prSet presAssocID="{8F585B5F-7DEC-4BDE-A8BF-869332B04AF3}" presName="linNode" presStyleCnt="0"/>
      <dgm:spPr/>
    </dgm:pt>
    <dgm:pt modelId="{E49C9539-FEB8-7D48-A11B-FA17772CBE7B}" type="pres">
      <dgm:prSet presAssocID="{8F585B5F-7DEC-4BDE-A8BF-869332B04AF3}" presName="parentText" presStyleLbl="node1" presStyleIdx="6" presStyleCnt="8">
        <dgm:presLayoutVars>
          <dgm:chMax val="1"/>
          <dgm:bulletEnabled val="1"/>
        </dgm:presLayoutVars>
      </dgm:prSet>
      <dgm:spPr/>
    </dgm:pt>
    <dgm:pt modelId="{684D09B1-8DBE-4B42-BA96-2C93FA396D9E}" type="pres">
      <dgm:prSet presAssocID="{8F585B5F-7DEC-4BDE-A8BF-869332B04AF3}" presName="descendantText" presStyleLbl="alignAccFollowNode1" presStyleIdx="6" presStyleCnt="8">
        <dgm:presLayoutVars>
          <dgm:bulletEnabled val="1"/>
        </dgm:presLayoutVars>
      </dgm:prSet>
      <dgm:spPr/>
    </dgm:pt>
    <dgm:pt modelId="{81ED028A-512E-E04E-8DB2-26E0FA243D2A}" type="pres">
      <dgm:prSet presAssocID="{34EE0B70-9BC0-44AB-9F33-FCFB2DB9DB66}" presName="sp" presStyleCnt="0"/>
      <dgm:spPr/>
    </dgm:pt>
    <dgm:pt modelId="{8998B517-FFD6-6245-9397-0080651ADFD5}" type="pres">
      <dgm:prSet presAssocID="{CBBCD4F3-0CCE-4CD2-9A9B-69C7846AC559}" presName="linNode" presStyleCnt="0"/>
      <dgm:spPr/>
    </dgm:pt>
    <dgm:pt modelId="{3B98E98D-D3E7-7843-8A7D-7F8BB79FAA9B}" type="pres">
      <dgm:prSet presAssocID="{CBBCD4F3-0CCE-4CD2-9A9B-69C7846AC559}" presName="parentText" presStyleLbl="node1" presStyleIdx="7" presStyleCnt="8">
        <dgm:presLayoutVars>
          <dgm:chMax val="1"/>
          <dgm:bulletEnabled val="1"/>
        </dgm:presLayoutVars>
      </dgm:prSet>
      <dgm:spPr/>
    </dgm:pt>
    <dgm:pt modelId="{4C2F1F33-F1C2-964D-83C5-781A78231B59}" type="pres">
      <dgm:prSet presAssocID="{CBBCD4F3-0CCE-4CD2-9A9B-69C7846AC559}" presName="descendantText" presStyleLbl="alignAccFollowNode1" presStyleIdx="7" presStyleCnt="8">
        <dgm:presLayoutVars>
          <dgm:bulletEnabled val="1"/>
        </dgm:presLayoutVars>
      </dgm:prSet>
      <dgm:spPr/>
    </dgm:pt>
  </dgm:ptLst>
  <dgm:cxnLst>
    <dgm:cxn modelId="{378D1303-8722-4F6A-82C2-B368B9568F6F}" srcId="{5B37E118-88B2-4B9B-8265-21F504782043}" destId="{A4660DBD-3ED0-4D94-BE8F-44763C443024}" srcOrd="0" destOrd="0" parTransId="{97AE681A-C5BC-44CF-A387-1CDECDDAE2EA}" sibTransId="{15E2E561-E07A-46DE-9708-73111144B0C4}"/>
    <dgm:cxn modelId="{300E6506-BB92-7E46-94C6-0189808D860B}" type="presOf" srcId="{3E9547AE-92BB-45F2-9091-05B7DD228A88}" destId="{CFC8BE45-E34D-F44D-82FE-8D0AE329BF95}" srcOrd="0" destOrd="0" presId="urn:microsoft.com/office/officeart/2005/8/layout/vList5"/>
    <dgm:cxn modelId="{C467EE0E-9082-49FA-9E0E-7D24BD99BA9A}" srcId="{74D88330-327D-469D-BA9B-3BD220141EEB}" destId="{03D4E632-17F3-4B90-99CC-D78F77409D41}" srcOrd="0" destOrd="0" parTransId="{7D800368-4C57-49F8-B387-68AF804DB124}" sibTransId="{5032DA7A-8DDB-4FA8-9638-C2F72522037E}"/>
    <dgm:cxn modelId="{BA165B0F-7EB6-4545-97DF-D9EE5312EC0A}" srcId="{5B37E118-88B2-4B9B-8265-21F504782043}" destId="{8F585B5F-7DEC-4BDE-A8BF-869332B04AF3}" srcOrd="6" destOrd="0" parTransId="{7B614A71-799A-4C2E-8F96-54850B21036C}" sibTransId="{34EE0B70-9BC0-44AB-9F33-FCFB2DB9DB66}"/>
    <dgm:cxn modelId="{05C17620-063D-EF4C-999B-37A464E82C7B}" type="presOf" srcId="{EE0575C7-4D08-4ADC-BD82-05977485095C}" destId="{4532232A-F2EB-CD45-B1A3-D29CA012E5E7}" srcOrd="0" destOrd="0" presId="urn:microsoft.com/office/officeart/2005/8/layout/vList5"/>
    <dgm:cxn modelId="{31F3E335-7AF6-4BB7-896A-48C76C92230B}" srcId="{5B37E118-88B2-4B9B-8265-21F504782043}" destId="{69F76628-E0EA-4DC4-8845-A169A51CBD21}" srcOrd="4" destOrd="0" parTransId="{2536D26A-34F9-4C55-B3F0-EB9D183483AA}" sibTransId="{2E9AA419-4A64-40B7-8763-C9E2665AAC2D}"/>
    <dgm:cxn modelId="{D81AFE3B-1591-DB47-90AE-4CC2169EF719}" type="presOf" srcId="{336397E9-AB62-48E4-B295-29B0275A9A1D}" destId="{43E7B433-AEFE-394B-B520-8D4AF561FCD3}" srcOrd="0" destOrd="0" presId="urn:microsoft.com/office/officeart/2005/8/layout/vList5"/>
    <dgm:cxn modelId="{7CF5F84B-712C-2B47-AC87-5271D7AB575E}" type="presOf" srcId="{826CCAD6-3139-4C72-ADD8-1ACE989E0D16}" destId="{2BE3991C-24AE-1749-94E4-520A40D88700}" srcOrd="0" destOrd="0" presId="urn:microsoft.com/office/officeart/2005/8/layout/vList5"/>
    <dgm:cxn modelId="{A264194D-6D5F-4A42-A037-593307569004}" srcId="{A4660DBD-3ED0-4D94-BE8F-44763C443024}" destId="{BF2A15C7-6074-4E75-9452-4EC825AA2CCA}" srcOrd="0" destOrd="0" parTransId="{08D7FFB6-4D14-404D-9017-F9E8332AD44C}" sibTransId="{22BC4D11-F88B-4B16-ADBA-2E6682FB84E8}"/>
    <dgm:cxn modelId="{03B07650-68F6-4C8E-A1B3-CF8EBECCD9B5}" srcId="{5B37E118-88B2-4B9B-8265-21F504782043}" destId="{EFA01260-785A-4CB8-AF6D-961F34A6DAD7}" srcOrd="5" destOrd="0" parTransId="{31BA90E5-7601-4D81-992A-37313E3ACEE2}" sibTransId="{D29FA85D-1FE4-4DE5-ACC5-4AD88002C303}"/>
    <dgm:cxn modelId="{D9EB5A63-02FC-4F4A-94E2-489AC72DE79D}" srcId="{5B37E118-88B2-4B9B-8265-21F504782043}" destId="{EABEB5B9-A7E0-48A3-B40D-17AEF979B040}" srcOrd="3" destOrd="0" parTransId="{B2AC9A30-5126-4227-BB0A-DA8EF486864B}" sibTransId="{2B15E80E-2B16-4022-A7BF-4A70CDD3CE7E}"/>
    <dgm:cxn modelId="{87496369-533F-452A-96DD-180CB7FD3EE8}" srcId="{EABEB5B9-A7E0-48A3-B40D-17AEF979B040}" destId="{3E9547AE-92BB-45F2-9091-05B7DD228A88}" srcOrd="0" destOrd="0" parTransId="{D8D0B4C4-A3CE-4A24-B980-C968A94B3AB8}" sibTransId="{57BDA5A8-CF75-4BB0-B568-7547F492CC48}"/>
    <dgm:cxn modelId="{6E82C86A-9A48-4A6D-B94F-27E17FF78C82}" srcId="{EFA01260-785A-4CB8-AF6D-961F34A6DAD7}" destId="{826CCAD6-3139-4C72-ADD8-1ACE989E0D16}" srcOrd="0" destOrd="0" parTransId="{8BE8A064-28B6-43F0-8AB9-94DA9534173A}" sibTransId="{F813A5E5-96E0-48E1-8AB9-7C742931F67E}"/>
    <dgm:cxn modelId="{9957C17D-6287-447A-AB0C-1041B6D3FB1A}" srcId="{8F585B5F-7DEC-4BDE-A8BF-869332B04AF3}" destId="{B37DA8AE-68F1-43DF-87E8-31F2CD585A69}" srcOrd="0" destOrd="0" parTransId="{27276A3B-A78C-412C-A3FB-3D775C4AE360}" sibTransId="{56B31E47-A769-4F1B-B01E-4DE1067AD4D8}"/>
    <dgm:cxn modelId="{E1E4BE7F-F387-2143-8BD2-70C814BE438D}" type="presOf" srcId="{EFA01260-785A-4CB8-AF6D-961F34A6DAD7}" destId="{866BE670-D02B-9145-B907-6A45C03514AC}" srcOrd="0" destOrd="0" presId="urn:microsoft.com/office/officeart/2005/8/layout/vList5"/>
    <dgm:cxn modelId="{D761D97F-0856-CC40-88D1-8EAA207B0873}" type="presOf" srcId="{A4660DBD-3ED0-4D94-BE8F-44763C443024}" destId="{48A7ACD3-57B9-2C4D-A9BC-7861AEB3B7B7}" srcOrd="0" destOrd="0" presId="urn:microsoft.com/office/officeart/2005/8/layout/vList5"/>
    <dgm:cxn modelId="{6CD99684-B7EC-C240-870D-3BEF4FD5F5C6}" type="presOf" srcId="{BF2A15C7-6074-4E75-9452-4EC825AA2CCA}" destId="{30F02E19-B784-8743-8F4C-E51F293FC50E}" srcOrd="0" destOrd="0" presId="urn:microsoft.com/office/officeart/2005/8/layout/vList5"/>
    <dgm:cxn modelId="{5B8C4586-1E04-1544-8B9F-EB57638CFB77}" type="presOf" srcId="{8F585B5F-7DEC-4BDE-A8BF-869332B04AF3}" destId="{E49C9539-FEB8-7D48-A11B-FA17772CBE7B}" srcOrd="0" destOrd="0" presId="urn:microsoft.com/office/officeart/2005/8/layout/vList5"/>
    <dgm:cxn modelId="{049DC48C-DD98-41E8-AE6B-9E9506AEB6DC}" srcId="{CBBCD4F3-0CCE-4CD2-9A9B-69C7846AC559}" destId="{87D3D81A-F844-4CA5-961C-2F2E906C5459}" srcOrd="0" destOrd="0" parTransId="{9E70166D-C5A6-4867-B286-0F2B02E98B41}" sibTransId="{ECCD5ADC-C4AD-4D3F-A38A-76F2F3F99FE9}"/>
    <dgm:cxn modelId="{52C0A28E-644E-DB4C-A78D-8DA5890BEFA7}" type="presOf" srcId="{3B20444B-2E99-428E-A573-C121B0700988}" destId="{15D06DEB-E383-B54E-B2D4-2E3B08E7A360}" srcOrd="0" destOrd="0" presId="urn:microsoft.com/office/officeart/2005/8/layout/vList5"/>
    <dgm:cxn modelId="{19CB639B-5473-4323-A9B0-FDCE04F6AB8C}" srcId="{69F76628-E0EA-4DC4-8845-A169A51CBD21}" destId="{336397E9-AB62-48E4-B295-29B0275A9A1D}" srcOrd="0" destOrd="0" parTransId="{59AE9B93-78B0-4EAD-9A9D-6C6FA1990188}" sibTransId="{AAD29CDF-7544-41A1-9725-FCF272A71CFE}"/>
    <dgm:cxn modelId="{1F58C6A4-0DD7-4AC8-A50D-D6688CB956C8}" srcId="{5B37E118-88B2-4B9B-8265-21F504782043}" destId="{CBBCD4F3-0CCE-4CD2-9A9B-69C7846AC559}" srcOrd="7" destOrd="0" parTransId="{A2AE1DB3-5237-49BE-9F5C-C9BF57BF8ABF}" sibTransId="{C5CBBD63-1F2C-44CC-9996-A7C3E2C40087}"/>
    <dgm:cxn modelId="{71C848A8-591A-4EBD-B183-87ED54E3879F}" srcId="{EE0575C7-4D08-4ADC-BD82-05977485095C}" destId="{3B20444B-2E99-428E-A573-C121B0700988}" srcOrd="0" destOrd="0" parTransId="{AACB0CA4-F761-4DCB-ABD6-51E8D214CF3B}" sibTransId="{0098BFA8-CB2B-464D-AD9C-E6AF529EE8A6}"/>
    <dgm:cxn modelId="{33AF59BA-C575-C844-ADE2-2B14566AC9A6}" type="presOf" srcId="{5B37E118-88B2-4B9B-8265-21F504782043}" destId="{76418605-9EFF-824F-B56D-6319993F8200}" srcOrd="0" destOrd="0" presId="urn:microsoft.com/office/officeart/2005/8/layout/vList5"/>
    <dgm:cxn modelId="{B16D07BC-3C19-5845-A133-4AEECC2442E9}" type="presOf" srcId="{03D4E632-17F3-4B90-99CC-D78F77409D41}" destId="{1DC3007A-C62F-8441-8A2E-30D801EE9B6B}" srcOrd="0" destOrd="0" presId="urn:microsoft.com/office/officeart/2005/8/layout/vList5"/>
    <dgm:cxn modelId="{C4AB46CF-3F8C-B949-AD35-8D8644517116}" type="presOf" srcId="{87D3D81A-F844-4CA5-961C-2F2E906C5459}" destId="{4C2F1F33-F1C2-964D-83C5-781A78231B59}" srcOrd="0" destOrd="0" presId="urn:microsoft.com/office/officeart/2005/8/layout/vList5"/>
    <dgm:cxn modelId="{043D6DD5-837A-8C45-BBDB-7903705AD702}" type="presOf" srcId="{69F76628-E0EA-4DC4-8845-A169A51CBD21}" destId="{E4A7F004-9D33-4B43-BA94-593DFB1667EC}" srcOrd="0" destOrd="0" presId="urn:microsoft.com/office/officeart/2005/8/layout/vList5"/>
    <dgm:cxn modelId="{C833F3D7-BF0C-4301-B127-F81390E942BB}" srcId="{5B37E118-88B2-4B9B-8265-21F504782043}" destId="{EE0575C7-4D08-4ADC-BD82-05977485095C}" srcOrd="2" destOrd="0" parTransId="{3728B987-A5E2-404D-9A80-9C326DFA9D91}" sibTransId="{C72D90B1-AD92-4420-89D7-F80CEA940CA2}"/>
    <dgm:cxn modelId="{5D43ABDC-D9C7-8348-AEA4-8A2281E3325A}" type="presOf" srcId="{CBBCD4F3-0CCE-4CD2-9A9B-69C7846AC559}" destId="{3B98E98D-D3E7-7843-8A7D-7F8BB79FAA9B}" srcOrd="0" destOrd="0" presId="urn:microsoft.com/office/officeart/2005/8/layout/vList5"/>
    <dgm:cxn modelId="{896822E7-EE95-43B3-AD4C-B595CB67D619}" srcId="{5B37E118-88B2-4B9B-8265-21F504782043}" destId="{74D88330-327D-469D-BA9B-3BD220141EEB}" srcOrd="1" destOrd="0" parTransId="{8A79F8F1-6828-41B0-ACD6-0DFA2CA3EDDB}" sibTransId="{2D75E445-AC01-4415-9FF6-DA19AB7E1722}"/>
    <dgm:cxn modelId="{CB2A3AE8-F21C-0445-B6C1-B870014D1170}" type="presOf" srcId="{B37DA8AE-68F1-43DF-87E8-31F2CD585A69}" destId="{684D09B1-8DBE-4B42-BA96-2C93FA396D9E}" srcOrd="0" destOrd="0" presId="urn:microsoft.com/office/officeart/2005/8/layout/vList5"/>
    <dgm:cxn modelId="{6FB86AEF-5735-2042-BEE0-D2CD31D38117}" type="presOf" srcId="{EABEB5B9-A7E0-48A3-B40D-17AEF979B040}" destId="{3C4D1F73-E13A-B24C-AFBC-612C06B6C42A}" srcOrd="0" destOrd="0" presId="urn:microsoft.com/office/officeart/2005/8/layout/vList5"/>
    <dgm:cxn modelId="{A29D8EF2-0FE3-8D46-ADD6-4C17488EB1EA}" type="presOf" srcId="{74D88330-327D-469D-BA9B-3BD220141EEB}" destId="{D36A1B67-83C5-EB4D-B4DD-5C9BA958B006}" srcOrd="0" destOrd="0" presId="urn:microsoft.com/office/officeart/2005/8/layout/vList5"/>
    <dgm:cxn modelId="{AC5602E6-A996-1B43-A2FB-E9E1C1A3610A}" type="presParOf" srcId="{76418605-9EFF-824F-B56D-6319993F8200}" destId="{BAA7CEBF-BC97-EC42-97E3-EC318E7896F5}" srcOrd="0" destOrd="0" presId="urn:microsoft.com/office/officeart/2005/8/layout/vList5"/>
    <dgm:cxn modelId="{D58E5C1A-EE02-1946-BD15-9D6F5E8EED0E}" type="presParOf" srcId="{BAA7CEBF-BC97-EC42-97E3-EC318E7896F5}" destId="{48A7ACD3-57B9-2C4D-A9BC-7861AEB3B7B7}" srcOrd="0" destOrd="0" presId="urn:microsoft.com/office/officeart/2005/8/layout/vList5"/>
    <dgm:cxn modelId="{D21416A0-78F4-C24C-9B36-3323FE4267B2}" type="presParOf" srcId="{BAA7CEBF-BC97-EC42-97E3-EC318E7896F5}" destId="{30F02E19-B784-8743-8F4C-E51F293FC50E}" srcOrd="1" destOrd="0" presId="urn:microsoft.com/office/officeart/2005/8/layout/vList5"/>
    <dgm:cxn modelId="{6BACF927-E02D-FF4A-9027-C0D83294103E}" type="presParOf" srcId="{76418605-9EFF-824F-B56D-6319993F8200}" destId="{7790301A-D813-A545-9811-9138B5AA2CF0}" srcOrd="1" destOrd="0" presId="urn:microsoft.com/office/officeart/2005/8/layout/vList5"/>
    <dgm:cxn modelId="{F7D5104A-623E-A740-ABEA-865F67D3D083}" type="presParOf" srcId="{76418605-9EFF-824F-B56D-6319993F8200}" destId="{3B72A2BF-3BE5-4648-9FB8-DEB22A73902A}" srcOrd="2" destOrd="0" presId="urn:microsoft.com/office/officeart/2005/8/layout/vList5"/>
    <dgm:cxn modelId="{C00444E8-C94A-1542-AB0D-240992AFDA38}" type="presParOf" srcId="{3B72A2BF-3BE5-4648-9FB8-DEB22A73902A}" destId="{D36A1B67-83C5-EB4D-B4DD-5C9BA958B006}" srcOrd="0" destOrd="0" presId="urn:microsoft.com/office/officeart/2005/8/layout/vList5"/>
    <dgm:cxn modelId="{2CA5EC1A-FE56-E54C-B5D3-23EF2DEB5343}" type="presParOf" srcId="{3B72A2BF-3BE5-4648-9FB8-DEB22A73902A}" destId="{1DC3007A-C62F-8441-8A2E-30D801EE9B6B}" srcOrd="1" destOrd="0" presId="urn:microsoft.com/office/officeart/2005/8/layout/vList5"/>
    <dgm:cxn modelId="{84E211BE-5BF7-6340-8F1F-A5B8CD9B8593}" type="presParOf" srcId="{76418605-9EFF-824F-B56D-6319993F8200}" destId="{BDA7166F-323F-8649-BAA0-D51DBBAC529A}" srcOrd="3" destOrd="0" presId="urn:microsoft.com/office/officeart/2005/8/layout/vList5"/>
    <dgm:cxn modelId="{A4653AB4-A00C-B740-8838-78230CA9EA98}" type="presParOf" srcId="{76418605-9EFF-824F-B56D-6319993F8200}" destId="{15D9080F-06A1-2845-AAC2-44779EE0D5CB}" srcOrd="4" destOrd="0" presId="urn:microsoft.com/office/officeart/2005/8/layout/vList5"/>
    <dgm:cxn modelId="{995EFB32-C903-DE47-B759-599979955923}" type="presParOf" srcId="{15D9080F-06A1-2845-AAC2-44779EE0D5CB}" destId="{4532232A-F2EB-CD45-B1A3-D29CA012E5E7}" srcOrd="0" destOrd="0" presId="urn:microsoft.com/office/officeart/2005/8/layout/vList5"/>
    <dgm:cxn modelId="{D18DEC20-57EA-504E-B531-650FE00F600F}" type="presParOf" srcId="{15D9080F-06A1-2845-AAC2-44779EE0D5CB}" destId="{15D06DEB-E383-B54E-B2D4-2E3B08E7A360}" srcOrd="1" destOrd="0" presId="urn:microsoft.com/office/officeart/2005/8/layout/vList5"/>
    <dgm:cxn modelId="{C9684BEF-B307-334E-8EDA-C0EE9A6F935C}" type="presParOf" srcId="{76418605-9EFF-824F-B56D-6319993F8200}" destId="{9E4A3FAC-F0EC-3D42-A7C0-48433C1EF9B2}" srcOrd="5" destOrd="0" presId="urn:microsoft.com/office/officeart/2005/8/layout/vList5"/>
    <dgm:cxn modelId="{B6F9D192-69B8-E749-ACAB-6DEA99A2DCC0}" type="presParOf" srcId="{76418605-9EFF-824F-B56D-6319993F8200}" destId="{587EF039-E626-9449-BFD3-D1037C072B73}" srcOrd="6" destOrd="0" presId="urn:microsoft.com/office/officeart/2005/8/layout/vList5"/>
    <dgm:cxn modelId="{61C51492-CF77-BD4B-9BFC-53008738A26D}" type="presParOf" srcId="{587EF039-E626-9449-BFD3-D1037C072B73}" destId="{3C4D1F73-E13A-B24C-AFBC-612C06B6C42A}" srcOrd="0" destOrd="0" presId="urn:microsoft.com/office/officeart/2005/8/layout/vList5"/>
    <dgm:cxn modelId="{63B75360-6ABD-AB4E-A40D-3ABB898CB892}" type="presParOf" srcId="{587EF039-E626-9449-BFD3-D1037C072B73}" destId="{CFC8BE45-E34D-F44D-82FE-8D0AE329BF95}" srcOrd="1" destOrd="0" presId="urn:microsoft.com/office/officeart/2005/8/layout/vList5"/>
    <dgm:cxn modelId="{9D6AAB34-A7E8-8D4F-899D-4D4E106E7A74}" type="presParOf" srcId="{76418605-9EFF-824F-B56D-6319993F8200}" destId="{8DFD7C51-FA31-6548-A200-D1306EDE1142}" srcOrd="7" destOrd="0" presId="urn:microsoft.com/office/officeart/2005/8/layout/vList5"/>
    <dgm:cxn modelId="{00501729-8F1F-8644-A74C-65C6CE709C06}" type="presParOf" srcId="{76418605-9EFF-824F-B56D-6319993F8200}" destId="{5017236F-7A61-8C4E-89F6-7DDBCB8B1932}" srcOrd="8" destOrd="0" presId="urn:microsoft.com/office/officeart/2005/8/layout/vList5"/>
    <dgm:cxn modelId="{418E3AE4-E307-254F-B694-FAC0D69598F7}" type="presParOf" srcId="{5017236F-7A61-8C4E-89F6-7DDBCB8B1932}" destId="{E4A7F004-9D33-4B43-BA94-593DFB1667EC}" srcOrd="0" destOrd="0" presId="urn:microsoft.com/office/officeart/2005/8/layout/vList5"/>
    <dgm:cxn modelId="{EBFAAEC9-0455-D04E-9D31-ECBB54F45655}" type="presParOf" srcId="{5017236F-7A61-8C4E-89F6-7DDBCB8B1932}" destId="{43E7B433-AEFE-394B-B520-8D4AF561FCD3}" srcOrd="1" destOrd="0" presId="urn:microsoft.com/office/officeart/2005/8/layout/vList5"/>
    <dgm:cxn modelId="{AEA25708-EBC6-FE43-916D-1C6ACEA64294}" type="presParOf" srcId="{76418605-9EFF-824F-B56D-6319993F8200}" destId="{4C44A804-18B4-AC47-BD38-AB7ABA49E59C}" srcOrd="9" destOrd="0" presId="urn:microsoft.com/office/officeart/2005/8/layout/vList5"/>
    <dgm:cxn modelId="{251CA546-EDA9-D149-93BA-A644E34C097E}" type="presParOf" srcId="{76418605-9EFF-824F-B56D-6319993F8200}" destId="{0B0B186E-81AB-5C4B-AA3B-D8EDF2FBB567}" srcOrd="10" destOrd="0" presId="urn:microsoft.com/office/officeart/2005/8/layout/vList5"/>
    <dgm:cxn modelId="{AE5593BC-04FA-844F-B1F4-165C288D24D1}" type="presParOf" srcId="{0B0B186E-81AB-5C4B-AA3B-D8EDF2FBB567}" destId="{866BE670-D02B-9145-B907-6A45C03514AC}" srcOrd="0" destOrd="0" presId="urn:microsoft.com/office/officeart/2005/8/layout/vList5"/>
    <dgm:cxn modelId="{B4012B7F-74D7-4140-8D62-3BF41869FAE7}" type="presParOf" srcId="{0B0B186E-81AB-5C4B-AA3B-D8EDF2FBB567}" destId="{2BE3991C-24AE-1749-94E4-520A40D88700}" srcOrd="1" destOrd="0" presId="urn:microsoft.com/office/officeart/2005/8/layout/vList5"/>
    <dgm:cxn modelId="{33263196-E024-1C4A-ABEE-657052B31FBB}" type="presParOf" srcId="{76418605-9EFF-824F-B56D-6319993F8200}" destId="{7E628304-9C36-214D-948A-6A851DC8AC92}" srcOrd="11" destOrd="0" presId="urn:microsoft.com/office/officeart/2005/8/layout/vList5"/>
    <dgm:cxn modelId="{1C45BBC2-8A24-2D43-B69D-5173F18D55C2}" type="presParOf" srcId="{76418605-9EFF-824F-B56D-6319993F8200}" destId="{4AC23FC4-3C58-3441-854E-1D61F1265FDA}" srcOrd="12" destOrd="0" presId="urn:microsoft.com/office/officeart/2005/8/layout/vList5"/>
    <dgm:cxn modelId="{5476D717-7BD2-C741-9ACF-B55BACECF8B5}" type="presParOf" srcId="{4AC23FC4-3C58-3441-854E-1D61F1265FDA}" destId="{E49C9539-FEB8-7D48-A11B-FA17772CBE7B}" srcOrd="0" destOrd="0" presId="urn:microsoft.com/office/officeart/2005/8/layout/vList5"/>
    <dgm:cxn modelId="{7AC23898-C20A-AE4A-98F7-0E7FE121649D}" type="presParOf" srcId="{4AC23FC4-3C58-3441-854E-1D61F1265FDA}" destId="{684D09B1-8DBE-4B42-BA96-2C93FA396D9E}" srcOrd="1" destOrd="0" presId="urn:microsoft.com/office/officeart/2005/8/layout/vList5"/>
    <dgm:cxn modelId="{2D62A8FA-9C22-0143-A52B-D0B2D5E6A3E2}" type="presParOf" srcId="{76418605-9EFF-824F-B56D-6319993F8200}" destId="{81ED028A-512E-E04E-8DB2-26E0FA243D2A}" srcOrd="13" destOrd="0" presId="urn:microsoft.com/office/officeart/2005/8/layout/vList5"/>
    <dgm:cxn modelId="{4B2F054C-5323-2B4B-8027-C40D51BC5289}" type="presParOf" srcId="{76418605-9EFF-824F-B56D-6319993F8200}" destId="{8998B517-FFD6-6245-9397-0080651ADFD5}" srcOrd="14" destOrd="0" presId="urn:microsoft.com/office/officeart/2005/8/layout/vList5"/>
    <dgm:cxn modelId="{DBD874B1-CF41-0A42-A162-447966220613}" type="presParOf" srcId="{8998B517-FFD6-6245-9397-0080651ADFD5}" destId="{3B98E98D-D3E7-7843-8A7D-7F8BB79FAA9B}" srcOrd="0" destOrd="0" presId="urn:microsoft.com/office/officeart/2005/8/layout/vList5"/>
    <dgm:cxn modelId="{6A63CEA1-2848-314E-9EEF-EA1BE57649B1}" type="presParOf" srcId="{8998B517-FFD6-6245-9397-0080651ADFD5}" destId="{4C2F1F33-F1C2-964D-83C5-781A78231B59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39CB9F2-5CF5-1A47-A29F-54067442EB2B}">
      <dsp:nvSpPr>
        <dsp:cNvPr id="0" name=""/>
        <dsp:cNvSpPr/>
      </dsp:nvSpPr>
      <dsp:spPr>
        <a:xfrm>
          <a:off x="3474719" y="1216"/>
          <a:ext cx="3909059" cy="30518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28575" rIns="57150" bIns="2857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TimePeriod</a:t>
          </a:r>
        </a:p>
      </dsp:txBody>
      <dsp:txXfrm>
        <a:off x="3489617" y="16114"/>
        <a:ext cx="3879263" cy="275385"/>
      </dsp:txXfrm>
    </dsp:sp>
    <dsp:sp modelId="{39707687-0D9F-B242-BBBF-0B2B167A1E61}">
      <dsp:nvSpPr>
        <dsp:cNvPr id="0" name=""/>
        <dsp:cNvSpPr/>
      </dsp:nvSpPr>
      <dsp:spPr>
        <a:xfrm>
          <a:off x="3474719" y="321657"/>
          <a:ext cx="3909059" cy="30518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28575" rIns="57150" bIns="2857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Airlines</a:t>
          </a:r>
        </a:p>
      </dsp:txBody>
      <dsp:txXfrm>
        <a:off x="3489617" y="336555"/>
        <a:ext cx="3879263" cy="275385"/>
      </dsp:txXfrm>
    </dsp:sp>
    <dsp:sp modelId="{FD5AC714-EA82-8A4A-983F-C36BF0206A1C}">
      <dsp:nvSpPr>
        <dsp:cNvPr id="0" name=""/>
        <dsp:cNvSpPr/>
      </dsp:nvSpPr>
      <dsp:spPr>
        <a:xfrm>
          <a:off x="3474719" y="642097"/>
          <a:ext cx="3909059" cy="30518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28575" rIns="57150" bIns="2857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Airports</a:t>
          </a:r>
        </a:p>
      </dsp:txBody>
      <dsp:txXfrm>
        <a:off x="3489617" y="656995"/>
        <a:ext cx="3879263" cy="275385"/>
      </dsp:txXfrm>
    </dsp:sp>
    <dsp:sp modelId="{6EF0514D-CC82-BD49-9DFB-B3E9D3B80064}">
      <dsp:nvSpPr>
        <dsp:cNvPr id="0" name=""/>
        <dsp:cNvSpPr/>
      </dsp:nvSpPr>
      <dsp:spPr>
        <a:xfrm>
          <a:off x="3474719" y="962538"/>
          <a:ext cx="3909059" cy="30518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28575" rIns="57150" bIns="2857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Flights</a:t>
          </a:r>
        </a:p>
      </dsp:txBody>
      <dsp:txXfrm>
        <a:off x="3489617" y="977436"/>
        <a:ext cx="3879263" cy="275385"/>
      </dsp:txXfrm>
    </dsp:sp>
    <dsp:sp modelId="{98316E97-5D64-3247-9819-55CD1D6146FF}">
      <dsp:nvSpPr>
        <dsp:cNvPr id="0" name=""/>
        <dsp:cNvSpPr/>
      </dsp:nvSpPr>
      <dsp:spPr>
        <a:xfrm>
          <a:off x="3474719" y="1282978"/>
          <a:ext cx="3909059" cy="30518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28575" rIns="57150" bIns="2857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FlightPerformance</a:t>
          </a:r>
        </a:p>
      </dsp:txBody>
      <dsp:txXfrm>
        <a:off x="3489617" y="1297876"/>
        <a:ext cx="3879263" cy="275385"/>
      </dsp:txXfrm>
    </dsp:sp>
    <dsp:sp modelId="{AD4ED9FC-2248-3349-A1CA-32B639AF6A4C}">
      <dsp:nvSpPr>
        <dsp:cNvPr id="0" name=""/>
        <dsp:cNvSpPr/>
      </dsp:nvSpPr>
      <dsp:spPr>
        <a:xfrm>
          <a:off x="3474719" y="1603419"/>
          <a:ext cx="3909059" cy="30518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28575" rIns="57150" bIns="2857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Routes</a:t>
          </a:r>
        </a:p>
      </dsp:txBody>
      <dsp:txXfrm>
        <a:off x="3489617" y="1618317"/>
        <a:ext cx="3879263" cy="275385"/>
      </dsp:txXfrm>
    </dsp:sp>
    <dsp:sp modelId="{F9A5F1C6-2BBD-C34B-9F17-A01943E3E093}">
      <dsp:nvSpPr>
        <dsp:cNvPr id="0" name=""/>
        <dsp:cNvSpPr/>
      </dsp:nvSpPr>
      <dsp:spPr>
        <a:xfrm>
          <a:off x="3474719" y="1923859"/>
          <a:ext cx="3909059" cy="30518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28575" rIns="57150" bIns="2857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FlightDelay</a:t>
          </a:r>
        </a:p>
      </dsp:txBody>
      <dsp:txXfrm>
        <a:off x="3489617" y="1938757"/>
        <a:ext cx="3879263" cy="275385"/>
      </dsp:txXfrm>
    </dsp:sp>
    <dsp:sp modelId="{D9EE11CE-A95F-194D-A383-871376E80065}">
      <dsp:nvSpPr>
        <dsp:cNvPr id="0" name=""/>
        <dsp:cNvSpPr/>
      </dsp:nvSpPr>
      <dsp:spPr>
        <a:xfrm>
          <a:off x="3474719" y="2244300"/>
          <a:ext cx="3909059" cy="30518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28575" rIns="57150" bIns="2857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FlightDiversion</a:t>
          </a:r>
        </a:p>
      </dsp:txBody>
      <dsp:txXfrm>
        <a:off x="3489617" y="2259198"/>
        <a:ext cx="3879263" cy="275385"/>
      </dsp:txXfrm>
    </dsp:sp>
    <dsp:sp modelId="{90C00FF3-4AF5-EA48-B9F9-E7FBA1C2650A}">
      <dsp:nvSpPr>
        <dsp:cNvPr id="0" name=""/>
        <dsp:cNvSpPr/>
      </dsp:nvSpPr>
      <dsp:spPr>
        <a:xfrm>
          <a:off x="3474719" y="2564740"/>
          <a:ext cx="3909059" cy="30518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28575" rIns="57150" bIns="2857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State</a:t>
          </a:r>
        </a:p>
      </dsp:txBody>
      <dsp:txXfrm>
        <a:off x="3489617" y="2579638"/>
        <a:ext cx="3879263" cy="275385"/>
      </dsp:txXfrm>
    </dsp:sp>
    <dsp:sp modelId="{4EA9B9EC-71CC-F24F-83A2-E7153223BD3F}">
      <dsp:nvSpPr>
        <dsp:cNvPr id="0" name=""/>
        <dsp:cNvSpPr/>
      </dsp:nvSpPr>
      <dsp:spPr>
        <a:xfrm>
          <a:off x="3474719" y="2885181"/>
          <a:ext cx="3909059" cy="30518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28575" rIns="57150" bIns="2857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DelayType</a:t>
          </a:r>
        </a:p>
      </dsp:txBody>
      <dsp:txXfrm>
        <a:off x="3489617" y="2900079"/>
        <a:ext cx="3879263" cy="275385"/>
      </dsp:txXfrm>
    </dsp:sp>
    <dsp:sp modelId="{38192E26-F71B-E341-B91C-55049BDDEB6D}">
      <dsp:nvSpPr>
        <dsp:cNvPr id="0" name=""/>
        <dsp:cNvSpPr/>
      </dsp:nvSpPr>
      <dsp:spPr>
        <a:xfrm>
          <a:off x="3474719" y="3205621"/>
          <a:ext cx="3909059" cy="30518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28575" rIns="57150" bIns="2857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CancellationReason</a:t>
          </a:r>
        </a:p>
      </dsp:txBody>
      <dsp:txXfrm>
        <a:off x="3489617" y="3220519"/>
        <a:ext cx="3879263" cy="275385"/>
      </dsp:txXfrm>
    </dsp:sp>
    <dsp:sp modelId="{DA865FAE-9FFD-F847-898C-E5C5DCE8AD57}">
      <dsp:nvSpPr>
        <dsp:cNvPr id="0" name=""/>
        <dsp:cNvSpPr/>
      </dsp:nvSpPr>
      <dsp:spPr>
        <a:xfrm>
          <a:off x="3474719" y="3526062"/>
          <a:ext cx="3909059" cy="30518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28575" rIns="57150" bIns="2857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AirportNames</a:t>
          </a:r>
        </a:p>
      </dsp:txBody>
      <dsp:txXfrm>
        <a:off x="3489617" y="3540960"/>
        <a:ext cx="3879263" cy="275385"/>
      </dsp:txXfrm>
    </dsp:sp>
    <dsp:sp modelId="{EDBE2F5B-37F9-154A-B3B2-577E2D9D9C73}">
      <dsp:nvSpPr>
        <dsp:cNvPr id="0" name=""/>
        <dsp:cNvSpPr/>
      </dsp:nvSpPr>
      <dsp:spPr>
        <a:xfrm>
          <a:off x="3474719" y="3846502"/>
          <a:ext cx="3909059" cy="30518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28575" rIns="57150" bIns="2857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AirlineNames</a:t>
          </a:r>
        </a:p>
      </dsp:txBody>
      <dsp:txXfrm>
        <a:off x="3489617" y="3861400"/>
        <a:ext cx="3879263" cy="27538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0F02E19-B784-8743-8F4C-E51F293FC50E}">
      <dsp:nvSpPr>
        <dsp:cNvPr id="0" name=""/>
        <dsp:cNvSpPr/>
      </dsp:nvSpPr>
      <dsp:spPr>
        <a:xfrm rot="5400000">
          <a:off x="5882682" y="-2611520"/>
          <a:ext cx="401930" cy="5725786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22860" rIns="45720" bIns="22860" numCol="1" spcCol="1270" anchor="ctr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/>
            <a:t>OP_CARRIER_AIRLINE_ID → OP_UNIQUE_CARRIER</a:t>
          </a:r>
        </a:p>
      </dsp:txBody>
      <dsp:txXfrm rot="-5400000">
        <a:off x="3220755" y="70028"/>
        <a:ext cx="5706165" cy="362688"/>
      </dsp:txXfrm>
    </dsp:sp>
    <dsp:sp modelId="{48A7ACD3-57B9-2C4D-A9BC-7861AEB3B7B7}">
      <dsp:nvSpPr>
        <dsp:cNvPr id="0" name=""/>
        <dsp:cNvSpPr/>
      </dsp:nvSpPr>
      <dsp:spPr>
        <a:xfrm>
          <a:off x="0" y="166"/>
          <a:ext cx="3220754" cy="50241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Airline</a:t>
          </a:r>
        </a:p>
      </dsp:txBody>
      <dsp:txXfrm>
        <a:off x="24526" y="24692"/>
        <a:ext cx="3171702" cy="453360"/>
      </dsp:txXfrm>
    </dsp:sp>
    <dsp:sp modelId="{1DC3007A-C62F-8441-8A2E-30D801EE9B6B}">
      <dsp:nvSpPr>
        <dsp:cNvPr id="0" name=""/>
        <dsp:cNvSpPr/>
      </dsp:nvSpPr>
      <dsp:spPr>
        <a:xfrm rot="5400000">
          <a:off x="5882682" y="-2083986"/>
          <a:ext cx="401930" cy="5725786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22860" rIns="45720" bIns="22860" numCol="1" spcCol="1270" anchor="ctr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/>
            <a:t>AIRPORT_ID → IATA_CODE, CITY_NAME, STATE_ABR</a:t>
          </a:r>
        </a:p>
      </dsp:txBody>
      <dsp:txXfrm rot="-5400000">
        <a:off x="3220755" y="597562"/>
        <a:ext cx="5706165" cy="362688"/>
      </dsp:txXfrm>
    </dsp:sp>
    <dsp:sp modelId="{D36A1B67-83C5-EB4D-B4DD-5C9BA958B006}">
      <dsp:nvSpPr>
        <dsp:cNvPr id="0" name=""/>
        <dsp:cNvSpPr/>
      </dsp:nvSpPr>
      <dsp:spPr>
        <a:xfrm>
          <a:off x="0" y="527700"/>
          <a:ext cx="3220754" cy="50241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Airport</a:t>
          </a:r>
        </a:p>
      </dsp:txBody>
      <dsp:txXfrm>
        <a:off x="24526" y="552226"/>
        <a:ext cx="3171702" cy="453360"/>
      </dsp:txXfrm>
    </dsp:sp>
    <dsp:sp modelId="{15D06DEB-E383-B54E-B2D4-2E3B08E7A360}">
      <dsp:nvSpPr>
        <dsp:cNvPr id="0" name=""/>
        <dsp:cNvSpPr/>
      </dsp:nvSpPr>
      <dsp:spPr>
        <a:xfrm rot="5400000">
          <a:off x="5882682" y="-1556453"/>
          <a:ext cx="401930" cy="5725786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22860" rIns="45720" bIns="22860" numCol="1" spcCol="1270" anchor="ctr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/>
            <a:t>From state lookup file: STATE_ABR → STATE_NM</a:t>
          </a:r>
        </a:p>
      </dsp:txBody>
      <dsp:txXfrm rot="-5400000">
        <a:off x="3220755" y="1125095"/>
        <a:ext cx="5706165" cy="362688"/>
      </dsp:txXfrm>
    </dsp:sp>
    <dsp:sp modelId="{4532232A-F2EB-CD45-B1A3-D29CA012E5E7}">
      <dsp:nvSpPr>
        <dsp:cNvPr id="0" name=""/>
        <dsp:cNvSpPr/>
      </dsp:nvSpPr>
      <dsp:spPr>
        <a:xfrm>
          <a:off x="0" y="1055233"/>
          <a:ext cx="3220754" cy="50241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State</a:t>
          </a:r>
        </a:p>
      </dsp:txBody>
      <dsp:txXfrm>
        <a:off x="24526" y="1079759"/>
        <a:ext cx="3171702" cy="453360"/>
      </dsp:txXfrm>
    </dsp:sp>
    <dsp:sp modelId="{CFC8BE45-E34D-F44D-82FE-8D0AE329BF95}">
      <dsp:nvSpPr>
        <dsp:cNvPr id="0" name=""/>
        <dsp:cNvSpPr/>
      </dsp:nvSpPr>
      <dsp:spPr>
        <a:xfrm rot="5400000">
          <a:off x="5882682" y="-1028919"/>
          <a:ext cx="401930" cy="5725786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22860" rIns="45720" bIns="22860" numCol="1" spcCol="1270" anchor="ctr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/>
            <a:t>FL_DATE → YEAR, QUARTER, MONTH, DAY_OF_MONTH, DAY_OF_WEEK</a:t>
          </a:r>
        </a:p>
      </dsp:txBody>
      <dsp:txXfrm rot="-5400000">
        <a:off x="3220755" y="1652629"/>
        <a:ext cx="5706165" cy="362688"/>
      </dsp:txXfrm>
    </dsp:sp>
    <dsp:sp modelId="{3C4D1F73-E13A-B24C-AFBC-612C06B6C42A}">
      <dsp:nvSpPr>
        <dsp:cNvPr id="0" name=""/>
        <dsp:cNvSpPr/>
      </dsp:nvSpPr>
      <dsp:spPr>
        <a:xfrm>
          <a:off x="0" y="1582767"/>
          <a:ext cx="3220754" cy="50241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Time</a:t>
          </a:r>
          <a:r>
            <a:rPr lang="en-US" sz="2500" kern="1200" dirty="0"/>
            <a:t> </a:t>
          </a:r>
          <a:r>
            <a:rPr lang="en-US" sz="2000" kern="1200" dirty="0"/>
            <a:t>Period</a:t>
          </a:r>
        </a:p>
      </dsp:txBody>
      <dsp:txXfrm>
        <a:off x="24526" y="1607293"/>
        <a:ext cx="3171702" cy="453360"/>
      </dsp:txXfrm>
    </dsp:sp>
    <dsp:sp modelId="{43E7B433-AEFE-394B-B520-8D4AF561FCD3}">
      <dsp:nvSpPr>
        <dsp:cNvPr id="0" name=""/>
        <dsp:cNvSpPr/>
      </dsp:nvSpPr>
      <dsp:spPr>
        <a:xfrm rot="5400000">
          <a:off x="5882682" y="-501385"/>
          <a:ext cx="401930" cy="5725786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22860" rIns="45720" bIns="22860" numCol="1" spcCol="1270" anchor="ctr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/>
            <a:t>From cancellation lookup file: CANCELLATION_CODE → DESCRIPTION</a:t>
          </a:r>
        </a:p>
      </dsp:txBody>
      <dsp:txXfrm rot="-5400000">
        <a:off x="3220755" y="2180163"/>
        <a:ext cx="5706165" cy="362688"/>
      </dsp:txXfrm>
    </dsp:sp>
    <dsp:sp modelId="{E4A7F004-9D33-4B43-BA94-593DFB1667EC}">
      <dsp:nvSpPr>
        <dsp:cNvPr id="0" name=""/>
        <dsp:cNvSpPr/>
      </dsp:nvSpPr>
      <dsp:spPr>
        <a:xfrm>
          <a:off x="0" y="2110300"/>
          <a:ext cx="3220754" cy="50241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Cancellation</a:t>
          </a:r>
        </a:p>
      </dsp:txBody>
      <dsp:txXfrm>
        <a:off x="24526" y="2134826"/>
        <a:ext cx="3171702" cy="453360"/>
      </dsp:txXfrm>
    </dsp:sp>
    <dsp:sp modelId="{2BE3991C-24AE-1749-94E4-520A40D88700}">
      <dsp:nvSpPr>
        <dsp:cNvPr id="0" name=""/>
        <dsp:cNvSpPr/>
      </dsp:nvSpPr>
      <dsp:spPr>
        <a:xfrm rot="5400000">
          <a:off x="5882682" y="26147"/>
          <a:ext cx="401930" cy="5725786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22860" rIns="45720" bIns="22860" numCol="1" spcCol="1270" anchor="ctr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/>
            <a:t>DELAY_ID → NAME</a:t>
          </a:r>
        </a:p>
      </dsp:txBody>
      <dsp:txXfrm rot="-5400000">
        <a:off x="3220755" y="2707696"/>
        <a:ext cx="5706165" cy="362688"/>
      </dsp:txXfrm>
    </dsp:sp>
    <dsp:sp modelId="{866BE670-D02B-9145-B907-6A45C03514AC}">
      <dsp:nvSpPr>
        <dsp:cNvPr id="0" name=""/>
        <dsp:cNvSpPr/>
      </dsp:nvSpPr>
      <dsp:spPr>
        <a:xfrm>
          <a:off x="0" y="2637834"/>
          <a:ext cx="3220754" cy="50241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Delay</a:t>
          </a:r>
          <a:r>
            <a:rPr lang="en-US" sz="2500" kern="1200" dirty="0"/>
            <a:t> </a:t>
          </a:r>
          <a:r>
            <a:rPr lang="en-US" sz="2000" kern="1200" dirty="0"/>
            <a:t>Type</a:t>
          </a:r>
        </a:p>
      </dsp:txBody>
      <dsp:txXfrm>
        <a:off x="24526" y="2662360"/>
        <a:ext cx="3171702" cy="453360"/>
      </dsp:txXfrm>
    </dsp:sp>
    <dsp:sp modelId="{684D09B1-8DBE-4B42-BA96-2C93FA396D9E}">
      <dsp:nvSpPr>
        <dsp:cNvPr id="0" name=""/>
        <dsp:cNvSpPr/>
      </dsp:nvSpPr>
      <dsp:spPr>
        <a:xfrm rot="5400000">
          <a:off x="5882682" y="553681"/>
          <a:ext cx="401930" cy="5725786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22860" rIns="45720" bIns="22860" numCol="1" spcCol="1270" anchor="ctr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dirty="0"/>
            <a:t>ROUTE_ID → ORIGIN_AIRPORT_ID, DEST_AIRPORT_ID, DISTANCE</a:t>
          </a:r>
        </a:p>
      </dsp:txBody>
      <dsp:txXfrm rot="-5400000">
        <a:off x="3220755" y="3235230"/>
        <a:ext cx="5706165" cy="362688"/>
      </dsp:txXfrm>
    </dsp:sp>
    <dsp:sp modelId="{E49C9539-FEB8-7D48-A11B-FA17772CBE7B}">
      <dsp:nvSpPr>
        <dsp:cNvPr id="0" name=""/>
        <dsp:cNvSpPr/>
      </dsp:nvSpPr>
      <dsp:spPr>
        <a:xfrm>
          <a:off x="0" y="3165368"/>
          <a:ext cx="3220754" cy="50241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Route</a:t>
          </a:r>
        </a:p>
      </dsp:txBody>
      <dsp:txXfrm>
        <a:off x="24526" y="3189894"/>
        <a:ext cx="3171702" cy="453360"/>
      </dsp:txXfrm>
    </dsp:sp>
    <dsp:sp modelId="{4C2F1F33-F1C2-964D-83C5-781A78231B59}">
      <dsp:nvSpPr>
        <dsp:cNvPr id="0" name=""/>
        <dsp:cNvSpPr/>
      </dsp:nvSpPr>
      <dsp:spPr>
        <a:xfrm rot="5400000">
          <a:off x="5882682" y="1081214"/>
          <a:ext cx="401930" cy="5725786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22860" rIns="45720" bIns="22860" numCol="1" spcCol="1270" anchor="ctr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/>
            <a:t>(FLIGHT_ID, DIVERSION_NUMBER) → DIV_AIRPORT_ID, DIV_TOTAL_GTIME</a:t>
          </a:r>
        </a:p>
      </dsp:txBody>
      <dsp:txXfrm rot="-5400000">
        <a:off x="3220755" y="3762763"/>
        <a:ext cx="5706165" cy="362688"/>
      </dsp:txXfrm>
    </dsp:sp>
    <dsp:sp modelId="{3B98E98D-D3E7-7843-8A7D-7F8BB79FAA9B}">
      <dsp:nvSpPr>
        <dsp:cNvPr id="0" name=""/>
        <dsp:cNvSpPr/>
      </dsp:nvSpPr>
      <dsp:spPr>
        <a:xfrm>
          <a:off x="0" y="3692901"/>
          <a:ext cx="3220754" cy="50241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Diversion</a:t>
          </a:r>
          <a:r>
            <a:rPr lang="en-US" sz="2500" kern="1200" dirty="0"/>
            <a:t> </a:t>
          </a:r>
          <a:r>
            <a:rPr lang="en-US" sz="2000" kern="1200" dirty="0"/>
            <a:t>Details</a:t>
          </a:r>
        </a:p>
      </dsp:txBody>
      <dsp:txXfrm>
        <a:off x="24526" y="3717427"/>
        <a:ext cx="3171702" cy="45336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10/8/26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7044325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10/8/26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1328631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10/8/26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2284307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10/8/26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8417781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10/8/26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0471644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10/8/26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4049471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10/8/26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6974059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10/8/26</a:t>
            </a:fld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2566037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10/8/26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8757890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10/8/26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2513296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10/8/26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1716817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10/8/26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419322989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10/8/26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2020486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10/8/26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9066921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10/8/26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5943724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10/8/26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7692002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10/8/26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3247670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Agenda with Pictur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336" y="401519"/>
            <a:ext cx="6516938" cy="2091068"/>
          </a:xfrm>
        </p:spPr>
        <p:txBody>
          <a:bodyPr anchor="t">
            <a:normAutofit/>
          </a:bodyPr>
          <a:lstStyle>
            <a:lvl1pPr>
              <a:defRPr sz="6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36526" y="2897442"/>
            <a:ext cx="6482747" cy="3279838"/>
          </a:xfrm>
        </p:spPr>
        <p:txBody>
          <a:bodyPr vert="horz" lIns="91440" tIns="45720" rIns="91440" bIns="45720" rtlCol="0">
            <a:normAutofit/>
          </a:bodyPr>
          <a:lstStyle>
            <a:lvl1pPr marL="457200" indent="-457200">
              <a:buFont typeface="+mj-lt"/>
              <a:buAutoNum type="arabicPeriod"/>
              <a:defRPr lang="en-US" sz="2000" dirty="0"/>
            </a:lvl1pPr>
            <a:lvl2pPr marL="800100" indent="-342900">
              <a:buFont typeface="+mj-lt"/>
              <a:buAutoNum type="arabicPeriod"/>
              <a:defRPr lang="en-US" sz="1800" dirty="0"/>
            </a:lvl2pPr>
            <a:lvl3pPr marL="1257300" indent="-342900">
              <a:buFont typeface="+mj-lt"/>
              <a:buAutoNum type="arabicPeriod"/>
              <a:defRPr lang="en-US" sz="1600" dirty="0"/>
            </a:lvl3pPr>
            <a:lvl4pPr marL="1714500" indent="-342900">
              <a:buFont typeface="+mj-lt"/>
              <a:buAutoNum type="arabicPeriod"/>
              <a:defRPr lang="en-US" sz="1600" dirty="0"/>
            </a:lvl4pPr>
            <a:lvl5pPr marL="2171700" indent="-342900">
              <a:buFont typeface="+mj-lt"/>
              <a:buAutoNum type="arabicPeriod"/>
              <a:defRPr lang="en-US" sz="16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2336" y="6426091"/>
            <a:ext cx="4303014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95850" y="6416667"/>
            <a:ext cx="1420310" cy="365125"/>
          </a:xfrm>
        </p:spPr>
        <p:txBody>
          <a:bodyPr/>
          <a:lstStyle/>
          <a:p>
            <a:fld id="{4AAD347D-5ACD-4C99-B74B-A9C85AD731AF}" type="datetimeFigureOut">
              <a:rPr lang="en-US" smtClean="0"/>
              <a:t>10/8/26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316160" y="6416667"/>
            <a:ext cx="603114" cy="365125"/>
          </a:xfrm>
        </p:spPr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Picture Placeholder 8">
            <a:extLst>
              <a:ext uri="{FF2B5EF4-FFF2-40B4-BE49-F238E27FC236}">
                <a16:creationId xmlns:a16="http://schemas.microsoft.com/office/drawing/2014/main" id="{FBFCD9F4-28CD-7877-8D0E-B6685E2A124F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619999" y="0"/>
            <a:ext cx="4571999" cy="6857999"/>
          </a:xfrm>
          <a:blipFill>
            <a:blip r:embed="rId2">
              <a:alphaModFix amt="70000"/>
            </a:blip>
            <a:stretch>
              <a:fillRect/>
            </a:stretch>
          </a:blipFill>
          <a:effectLst>
            <a:outerShdw blurRad="203200" dist="12700" dir="7800000" algn="r" rotWithShape="0">
              <a:prstClr val="black">
                <a:alpha val="10000"/>
              </a:prstClr>
            </a:outerShdw>
          </a:effectLst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35640298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3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5.png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4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10/8/26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55565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850" r:id="rId1"/>
    <p:sldLayoutId id="2147484851" r:id="rId2"/>
    <p:sldLayoutId id="2147484852" r:id="rId3"/>
    <p:sldLayoutId id="2147484853" r:id="rId4"/>
    <p:sldLayoutId id="2147484854" r:id="rId5"/>
    <p:sldLayoutId id="2147484855" r:id="rId6"/>
    <p:sldLayoutId id="2147484856" r:id="rId7"/>
    <p:sldLayoutId id="2147484857" r:id="rId8"/>
    <p:sldLayoutId id="2147484858" r:id="rId9"/>
    <p:sldLayoutId id="2147484859" r:id="rId10"/>
    <p:sldLayoutId id="2147484860" r:id="rId11"/>
    <p:sldLayoutId id="2147484861" r:id="rId12"/>
    <p:sldLayoutId id="2147484862" r:id="rId13"/>
    <p:sldLayoutId id="2147484863" r:id="rId14"/>
    <p:sldLayoutId id="2147484864" r:id="rId15"/>
    <p:sldLayoutId id="2147484865" r:id="rId16"/>
    <p:sldLayoutId id="2147484866" r:id="rId17"/>
    <p:sldLayoutId id="2147484867" r:id="rId18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7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sv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12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hyperlink" Target="https://github.com/CharishmaChandu12/DBMS-Project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20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Picture 45">
            <a:extLst>
              <a:ext uri="{FF2B5EF4-FFF2-40B4-BE49-F238E27FC236}">
                <a16:creationId xmlns:a16="http://schemas.microsoft.com/office/drawing/2014/main" id="{DF19BAF3-7E20-4B9D-B544-BABAEEA1FA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950648F4-ABCD-4DF0-8641-76CFB23547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50" name="Oval 49">
            <a:extLst>
              <a:ext uri="{FF2B5EF4-FFF2-40B4-BE49-F238E27FC236}">
                <a16:creationId xmlns:a16="http://schemas.microsoft.com/office/drawing/2014/main" id="{989BE678-777B-482A-A616-FEDC47B162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52" name="Picture 51">
            <a:extLst>
              <a:ext uri="{FF2B5EF4-FFF2-40B4-BE49-F238E27FC236}">
                <a16:creationId xmlns:a16="http://schemas.microsoft.com/office/drawing/2014/main" id="{CF1EB4BD-9C7E-4AA3-9681-C7EB0DA625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54" name="Picture 53">
            <a:extLst>
              <a:ext uri="{FF2B5EF4-FFF2-40B4-BE49-F238E27FC236}">
                <a16:creationId xmlns:a16="http://schemas.microsoft.com/office/drawing/2014/main" id="{94AAE3AA-3759-4D28-B0EF-575F25A514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56" name="Rectangle 55">
            <a:extLst>
              <a:ext uri="{FF2B5EF4-FFF2-40B4-BE49-F238E27FC236}">
                <a16:creationId xmlns:a16="http://schemas.microsoft.com/office/drawing/2014/main" id="{D28BE0C3-2102-4820-B88B-A448B184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C8A3C342-1D03-412F-8DD3-BF519E8E0A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627D259-6CDF-DDC4-1BE0-F3343D7B8B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2707" y="2404215"/>
            <a:ext cx="6188190" cy="162232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900" dirty="0">
                <a:solidFill>
                  <a:srgbClr val="EBEBEB"/>
                </a:solidFill>
              </a:rPr>
              <a:t>U.S. Airline On-Time Performance Database</a:t>
            </a:r>
          </a:p>
        </p:txBody>
      </p:sp>
      <p:sp>
        <p:nvSpPr>
          <p:cNvPr id="30" name="Subtitle 2">
            <a:extLst>
              <a:ext uri="{FF2B5EF4-FFF2-40B4-BE49-F238E27FC236}">
                <a16:creationId xmlns:a16="http://schemas.microsoft.com/office/drawing/2014/main" id="{CF7EB958-E59F-9BCB-1C8D-2C7B986B979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04430" y="5383388"/>
            <a:ext cx="6188189" cy="3785419"/>
          </a:xfrm>
        </p:spPr>
        <p:txBody>
          <a:bodyPr vert="horz" lIns="91440" tIns="45720" rIns="91440" bIns="45720" rtlCol="0">
            <a:normAutofit/>
          </a:bodyPr>
          <a:lstStyle/>
          <a:p>
            <a:pPr marL="0" lv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DATA 201 DBMS Group Project</a:t>
            </a:r>
          </a:p>
          <a:p>
            <a:pPr marL="0" lv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Group 8, members: Charishma, Swathi, Priyanka, William</a:t>
            </a:r>
          </a:p>
        </p:txBody>
      </p:sp>
      <p:sp>
        <p:nvSpPr>
          <p:cNvPr id="60" name="Freeform 31">
            <a:extLst>
              <a:ext uri="{FF2B5EF4-FFF2-40B4-BE49-F238E27FC236}">
                <a16:creationId xmlns:a16="http://schemas.microsoft.com/office/drawing/2014/main" id="{81CC9B02-E087-4350-AEBD-2C3CF001AF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015974" y="-1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Plane on tarmac">
            <a:extLst>
              <a:ext uri="{FF2B5EF4-FFF2-40B4-BE49-F238E27FC236}">
                <a16:creationId xmlns:a16="http://schemas.microsoft.com/office/drawing/2014/main" id="{A7459E1D-3BDA-D2F9-32F1-DC3DF4B1A187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38631" r="13061" b="-2"/>
          <a:stretch>
            <a:fillRect/>
          </a:stretch>
        </p:blipFill>
        <p:spPr>
          <a:xfrm>
            <a:off x="7229175" y="1"/>
            <a:ext cx="4963245" cy="6858001"/>
          </a:xfrm>
          <a:custGeom>
            <a:avLst/>
            <a:gdLst/>
            <a:ahLst/>
            <a:cxnLst/>
            <a:rect l="l" t="t" r="r" b="b"/>
            <a:pathLst>
              <a:path w="4963245" h="6858001">
                <a:moveTo>
                  <a:pt x="1177" y="0"/>
                </a:moveTo>
                <a:lnTo>
                  <a:pt x="1344715" y="0"/>
                </a:lnTo>
                <a:lnTo>
                  <a:pt x="1344715" y="1"/>
                </a:lnTo>
                <a:lnTo>
                  <a:pt x="4963245" y="1"/>
                </a:lnTo>
                <a:lnTo>
                  <a:pt x="4963244" y="6858001"/>
                </a:lnTo>
                <a:lnTo>
                  <a:pt x="900697" y="6858001"/>
                </a:lnTo>
                <a:lnTo>
                  <a:pt x="900697" y="6858000"/>
                </a:lnTo>
                <a:lnTo>
                  <a:pt x="0" y="6858000"/>
                </a:lnTo>
                <a:lnTo>
                  <a:pt x="5883" y="6817538"/>
                </a:lnTo>
                <a:lnTo>
                  <a:pt x="23196" y="6698894"/>
                </a:lnTo>
                <a:lnTo>
                  <a:pt x="35299" y="6612483"/>
                </a:lnTo>
                <a:lnTo>
                  <a:pt x="48073" y="6509613"/>
                </a:lnTo>
                <a:lnTo>
                  <a:pt x="63369" y="6387541"/>
                </a:lnTo>
                <a:lnTo>
                  <a:pt x="79506" y="6252438"/>
                </a:lnTo>
                <a:lnTo>
                  <a:pt x="96483" y="6100191"/>
                </a:lnTo>
                <a:lnTo>
                  <a:pt x="114469" y="5934227"/>
                </a:lnTo>
                <a:lnTo>
                  <a:pt x="132454" y="5753862"/>
                </a:lnTo>
                <a:lnTo>
                  <a:pt x="150776" y="5561838"/>
                </a:lnTo>
                <a:lnTo>
                  <a:pt x="167753" y="5354726"/>
                </a:lnTo>
                <a:lnTo>
                  <a:pt x="184058" y="5138013"/>
                </a:lnTo>
                <a:lnTo>
                  <a:pt x="198849" y="4908956"/>
                </a:lnTo>
                <a:lnTo>
                  <a:pt x="212969" y="4670298"/>
                </a:lnTo>
                <a:lnTo>
                  <a:pt x="226248" y="4421352"/>
                </a:lnTo>
                <a:lnTo>
                  <a:pt x="230955" y="4293793"/>
                </a:lnTo>
                <a:lnTo>
                  <a:pt x="236165" y="4163492"/>
                </a:lnTo>
                <a:lnTo>
                  <a:pt x="241040" y="4031133"/>
                </a:lnTo>
                <a:lnTo>
                  <a:pt x="244234" y="3898087"/>
                </a:lnTo>
                <a:lnTo>
                  <a:pt x="247091" y="3762299"/>
                </a:lnTo>
                <a:lnTo>
                  <a:pt x="250117" y="3625139"/>
                </a:lnTo>
                <a:lnTo>
                  <a:pt x="252134" y="3485236"/>
                </a:lnTo>
                <a:lnTo>
                  <a:pt x="252134" y="3343961"/>
                </a:lnTo>
                <a:lnTo>
                  <a:pt x="253142" y="3201315"/>
                </a:lnTo>
                <a:lnTo>
                  <a:pt x="252134" y="3057297"/>
                </a:lnTo>
                <a:lnTo>
                  <a:pt x="250117" y="2911221"/>
                </a:lnTo>
                <a:lnTo>
                  <a:pt x="248268" y="2765146"/>
                </a:lnTo>
                <a:lnTo>
                  <a:pt x="244234" y="2617013"/>
                </a:lnTo>
                <a:lnTo>
                  <a:pt x="240032" y="2467509"/>
                </a:lnTo>
                <a:lnTo>
                  <a:pt x="235157" y="2318004"/>
                </a:lnTo>
                <a:lnTo>
                  <a:pt x="228266" y="2167128"/>
                </a:lnTo>
                <a:lnTo>
                  <a:pt x="220029" y="2014881"/>
                </a:lnTo>
                <a:lnTo>
                  <a:pt x="212129" y="1861947"/>
                </a:lnTo>
                <a:lnTo>
                  <a:pt x="202044" y="1709014"/>
                </a:lnTo>
                <a:lnTo>
                  <a:pt x="189941" y="1554023"/>
                </a:lnTo>
                <a:lnTo>
                  <a:pt x="177839" y="1401090"/>
                </a:lnTo>
                <a:lnTo>
                  <a:pt x="163887" y="1245413"/>
                </a:lnTo>
                <a:lnTo>
                  <a:pt x="148591" y="1089051"/>
                </a:lnTo>
                <a:lnTo>
                  <a:pt x="132455" y="934746"/>
                </a:lnTo>
                <a:lnTo>
                  <a:pt x="113629" y="778383"/>
                </a:lnTo>
                <a:lnTo>
                  <a:pt x="93458" y="622707"/>
                </a:lnTo>
                <a:lnTo>
                  <a:pt x="73455" y="466344"/>
                </a:lnTo>
                <a:lnTo>
                  <a:pt x="50091" y="310668"/>
                </a:lnTo>
                <a:lnTo>
                  <a:pt x="26222" y="155677"/>
                </a:lnTo>
                <a:close/>
              </a:path>
            </a:pathLst>
          </a:custGeom>
          <a:noFill/>
        </p:spPr>
      </p:pic>
    </p:spTree>
    <p:extLst>
      <p:ext uri="{BB962C8B-B14F-4D97-AF65-F5344CB8AC3E}">
        <p14:creationId xmlns:p14="http://schemas.microsoft.com/office/powerpoint/2010/main" val="30001597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C8A3C342-1D03-412F-8DD3-BF519E8E0A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7B4FCE-8015-A1C2-75C8-08B18AF239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30" y="629266"/>
            <a:ext cx="6188190" cy="1622321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rgbClr val="EBEBEB"/>
                </a:solidFill>
              </a:rPr>
              <a:t>Dataset Introduction</a:t>
            </a:r>
            <a:br>
              <a:rPr lang="en-US" b="1" dirty="0">
                <a:solidFill>
                  <a:srgbClr val="EBEBEB"/>
                </a:solidFill>
              </a:rPr>
            </a:br>
            <a:endParaRPr lang="en-US" dirty="0">
              <a:solidFill>
                <a:srgbClr val="EBEBEB"/>
              </a:solidFill>
            </a:endParaRP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3398B640-335F-E189-6E1A-DFDA8D4C43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1440" y="2080491"/>
            <a:ext cx="6188189" cy="3785419"/>
          </a:xfrm>
        </p:spPr>
        <p:txBody>
          <a:bodyPr>
            <a:normAutofit/>
          </a:bodyPr>
          <a:lstStyle/>
          <a:p>
            <a:pPr lvl="0">
              <a:buFont typeface="Wingdings" pitchFamily="2" charset="2"/>
              <a:buChar char="Ø"/>
            </a:pPr>
            <a:r>
              <a:rPr lang="en-US" sz="1800" dirty="0">
                <a:solidFill>
                  <a:srgbClr val="FFFFFF"/>
                </a:solidFill>
              </a:rPr>
              <a:t>Source: U.S. Department of Transportation, Bureau of Transportation Statistics</a:t>
            </a:r>
          </a:p>
          <a:p>
            <a:pPr lvl="0">
              <a:buFont typeface="Wingdings" pitchFamily="2" charset="2"/>
              <a:buChar char="Ø"/>
            </a:pPr>
            <a:r>
              <a:rPr lang="en-US" sz="1800" dirty="0">
                <a:solidFill>
                  <a:srgbClr val="FFFFFF"/>
                </a:solidFill>
              </a:rPr>
              <a:t>Dataset: Reporting Carrier On-Time Performance</a:t>
            </a:r>
          </a:p>
          <a:p>
            <a:pPr lvl="0">
              <a:buFont typeface="Wingdings" pitchFamily="2" charset="2"/>
              <a:buChar char="Ø"/>
            </a:pPr>
            <a:r>
              <a:rPr lang="en-US" sz="1800" dirty="0">
                <a:solidFill>
                  <a:srgbClr val="FFFFFF"/>
                </a:solidFill>
              </a:rPr>
              <a:t>Period: January–June 2026</a:t>
            </a:r>
          </a:p>
          <a:p>
            <a:pPr lvl="0">
              <a:buFont typeface="Wingdings" pitchFamily="2" charset="2"/>
              <a:buChar char="Ø"/>
            </a:pPr>
            <a:r>
              <a:rPr lang="en-US" sz="1800" dirty="0">
                <a:solidFill>
                  <a:srgbClr val="FFFFFF"/>
                </a:solidFill>
              </a:rPr>
              <a:t>Monthly files combined: 6</a:t>
            </a:r>
          </a:p>
          <a:p>
            <a:pPr lvl="0">
              <a:buFont typeface="Wingdings" pitchFamily="2" charset="2"/>
              <a:buChar char="Ø"/>
            </a:pPr>
            <a:r>
              <a:rPr lang="en-US" sz="1800" dirty="0">
                <a:solidFill>
                  <a:srgbClr val="FFFFFF"/>
                </a:solidFill>
              </a:rPr>
              <a:t>Total flight records: </a:t>
            </a:r>
            <a:r>
              <a:rPr lang="en-US" sz="1800" b="1" dirty="0">
                <a:solidFill>
                  <a:srgbClr val="FFFFFF"/>
                </a:solidFill>
              </a:rPr>
              <a:t>3.4+ Million</a:t>
            </a:r>
            <a:endParaRPr lang="en-US" sz="1800" dirty="0">
              <a:solidFill>
                <a:srgbClr val="FFFFFF"/>
              </a:solidFill>
            </a:endParaRPr>
          </a:p>
          <a:p>
            <a:pPr lvl="0">
              <a:buFont typeface="Wingdings" pitchFamily="2" charset="2"/>
              <a:buChar char="Ø"/>
            </a:pPr>
            <a:r>
              <a:rPr lang="en-US" sz="1800" dirty="0">
                <a:solidFill>
                  <a:srgbClr val="FFFFFF"/>
                </a:solidFill>
              </a:rPr>
              <a:t>Raw attributes: </a:t>
            </a:r>
            <a:r>
              <a:rPr lang="en-US" sz="1800" b="1" dirty="0">
                <a:solidFill>
                  <a:srgbClr val="FFFFFF"/>
                </a:solidFill>
              </a:rPr>
              <a:t>61</a:t>
            </a:r>
            <a:endParaRPr lang="en-US" sz="1800" dirty="0">
              <a:solidFill>
                <a:srgbClr val="FFFFFF"/>
              </a:solidFill>
            </a:endParaRPr>
          </a:p>
          <a:p>
            <a:pPr lvl="0">
              <a:buFont typeface="Wingdings" pitchFamily="2" charset="2"/>
              <a:buChar char="Ø"/>
            </a:pPr>
            <a:r>
              <a:rPr lang="en-US" sz="1800" dirty="0">
                <a:solidFill>
                  <a:srgbClr val="FFFFFF"/>
                </a:solidFill>
              </a:rPr>
              <a:t>Each row represents a reported flight</a:t>
            </a:r>
          </a:p>
          <a:p>
            <a:pPr>
              <a:buFont typeface="Wingdings" pitchFamily="2" charset="2"/>
              <a:buChar char="Ø"/>
            </a:pPr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28" name="Freeform 31">
            <a:extLst>
              <a:ext uri="{FF2B5EF4-FFF2-40B4-BE49-F238E27FC236}">
                <a16:creationId xmlns:a16="http://schemas.microsoft.com/office/drawing/2014/main" id="{81CC9B02-E087-4350-AEBD-2C3CF001AF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015974" y="-1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9" name="Picture 18" descr="Back view of an airplane">
            <a:extLst>
              <a:ext uri="{FF2B5EF4-FFF2-40B4-BE49-F238E27FC236}">
                <a16:creationId xmlns:a16="http://schemas.microsoft.com/office/drawing/2014/main" id="{8EA042ED-FF21-DF72-1510-13EEA25E630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9596" r="32095" b="-2"/>
          <a:stretch>
            <a:fillRect/>
          </a:stretch>
        </p:blipFill>
        <p:spPr>
          <a:xfrm>
            <a:off x="7229175" y="1"/>
            <a:ext cx="4963245" cy="6858001"/>
          </a:xfrm>
          <a:custGeom>
            <a:avLst/>
            <a:gdLst/>
            <a:ahLst/>
            <a:cxnLst/>
            <a:rect l="l" t="t" r="r" b="b"/>
            <a:pathLst>
              <a:path w="4963245" h="6858001">
                <a:moveTo>
                  <a:pt x="1177" y="0"/>
                </a:moveTo>
                <a:lnTo>
                  <a:pt x="1344715" y="0"/>
                </a:lnTo>
                <a:lnTo>
                  <a:pt x="1344715" y="1"/>
                </a:lnTo>
                <a:lnTo>
                  <a:pt x="4963245" y="1"/>
                </a:lnTo>
                <a:lnTo>
                  <a:pt x="4963244" y="6858001"/>
                </a:lnTo>
                <a:lnTo>
                  <a:pt x="900697" y="6858001"/>
                </a:lnTo>
                <a:lnTo>
                  <a:pt x="900697" y="6858000"/>
                </a:lnTo>
                <a:lnTo>
                  <a:pt x="0" y="6858000"/>
                </a:lnTo>
                <a:lnTo>
                  <a:pt x="5883" y="6817538"/>
                </a:lnTo>
                <a:lnTo>
                  <a:pt x="23196" y="6698894"/>
                </a:lnTo>
                <a:lnTo>
                  <a:pt x="35299" y="6612483"/>
                </a:lnTo>
                <a:lnTo>
                  <a:pt x="48073" y="6509613"/>
                </a:lnTo>
                <a:lnTo>
                  <a:pt x="63369" y="6387541"/>
                </a:lnTo>
                <a:lnTo>
                  <a:pt x="79506" y="6252438"/>
                </a:lnTo>
                <a:lnTo>
                  <a:pt x="96483" y="6100191"/>
                </a:lnTo>
                <a:lnTo>
                  <a:pt x="114469" y="5934227"/>
                </a:lnTo>
                <a:lnTo>
                  <a:pt x="132454" y="5753862"/>
                </a:lnTo>
                <a:lnTo>
                  <a:pt x="150776" y="5561838"/>
                </a:lnTo>
                <a:lnTo>
                  <a:pt x="167753" y="5354726"/>
                </a:lnTo>
                <a:lnTo>
                  <a:pt x="184058" y="5138013"/>
                </a:lnTo>
                <a:lnTo>
                  <a:pt x="198849" y="4908956"/>
                </a:lnTo>
                <a:lnTo>
                  <a:pt x="212969" y="4670298"/>
                </a:lnTo>
                <a:lnTo>
                  <a:pt x="226248" y="4421352"/>
                </a:lnTo>
                <a:lnTo>
                  <a:pt x="230955" y="4293793"/>
                </a:lnTo>
                <a:lnTo>
                  <a:pt x="236165" y="4163492"/>
                </a:lnTo>
                <a:lnTo>
                  <a:pt x="241040" y="4031133"/>
                </a:lnTo>
                <a:lnTo>
                  <a:pt x="244234" y="3898087"/>
                </a:lnTo>
                <a:lnTo>
                  <a:pt x="247091" y="3762299"/>
                </a:lnTo>
                <a:lnTo>
                  <a:pt x="250117" y="3625139"/>
                </a:lnTo>
                <a:lnTo>
                  <a:pt x="252134" y="3485236"/>
                </a:lnTo>
                <a:lnTo>
                  <a:pt x="252134" y="3343961"/>
                </a:lnTo>
                <a:lnTo>
                  <a:pt x="253142" y="3201315"/>
                </a:lnTo>
                <a:lnTo>
                  <a:pt x="252134" y="3057297"/>
                </a:lnTo>
                <a:lnTo>
                  <a:pt x="250117" y="2911221"/>
                </a:lnTo>
                <a:lnTo>
                  <a:pt x="248268" y="2765146"/>
                </a:lnTo>
                <a:lnTo>
                  <a:pt x="244234" y="2617013"/>
                </a:lnTo>
                <a:lnTo>
                  <a:pt x="240032" y="2467509"/>
                </a:lnTo>
                <a:lnTo>
                  <a:pt x="235157" y="2318004"/>
                </a:lnTo>
                <a:lnTo>
                  <a:pt x="228266" y="2167128"/>
                </a:lnTo>
                <a:lnTo>
                  <a:pt x="220029" y="2014881"/>
                </a:lnTo>
                <a:lnTo>
                  <a:pt x="212129" y="1861947"/>
                </a:lnTo>
                <a:lnTo>
                  <a:pt x="202044" y="1709014"/>
                </a:lnTo>
                <a:lnTo>
                  <a:pt x="189941" y="1554023"/>
                </a:lnTo>
                <a:lnTo>
                  <a:pt x="177839" y="1401090"/>
                </a:lnTo>
                <a:lnTo>
                  <a:pt x="163887" y="1245413"/>
                </a:lnTo>
                <a:lnTo>
                  <a:pt x="148591" y="1089051"/>
                </a:lnTo>
                <a:lnTo>
                  <a:pt x="132455" y="934746"/>
                </a:lnTo>
                <a:lnTo>
                  <a:pt x="113629" y="778383"/>
                </a:lnTo>
                <a:lnTo>
                  <a:pt x="93458" y="622707"/>
                </a:lnTo>
                <a:lnTo>
                  <a:pt x="73455" y="466344"/>
                </a:lnTo>
                <a:lnTo>
                  <a:pt x="50091" y="310668"/>
                </a:lnTo>
                <a:lnTo>
                  <a:pt x="26222" y="155677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4058459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6E1791-448F-D5E9-80CD-D10C02018B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6151" y="322007"/>
            <a:ext cx="6828512" cy="1049593"/>
          </a:xfrm>
        </p:spPr>
        <p:txBody>
          <a:bodyPr>
            <a:normAutofit/>
          </a:bodyPr>
          <a:lstStyle/>
          <a:p>
            <a:r>
              <a:rPr lang="en-US" sz="3200" dirty="0"/>
              <a:t>Why We Chose This Dataset?</a:t>
            </a:r>
          </a:p>
        </p:txBody>
      </p:sp>
      <p:pic>
        <p:nvPicPr>
          <p:cNvPr id="5" name="Picture 4" descr="Planes on an airport">
            <a:extLst>
              <a:ext uri="{FF2B5EF4-FFF2-40B4-BE49-F238E27FC236}">
                <a16:creationId xmlns:a16="http://schemas.microsoft.com/office/drawing/2014/main" id="{439B86F2-75B7-6C7B-5067-47030D3F81A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0270" r="18449" b="2"/>
          <a:stretch>
            <a:fillRect/>
          </a:stretch>
        </p:blipFill>
        <p:spPr>
          <a:xfrm>
            <a:off x="8135860" y="10"/>
            <a:ext cx="4058949" cy="6857990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14701A01-E306-48FB-A661-2335BB38BA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00BA13-6B4A-CFE2-A192-D49D8BDD11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" y="1143000"/>
            <a:ext cx="8021560" cy="5600700"/>
          </a:xfrm>
        </p:spPr>
        <p:txBody>
          <a:bodyPr>
            <a:normAutofit fontScale="92500" lnSpcReduction="10000"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US" sz="1800" dirty="0"/>
              <a:t>This dataset was selected because it :</a:t>
            </a:r>
          </a:p>
          <a:p>
            <a:pPr>
              <a:lnSpc>
                <a:spcPct val="90000"/>
              </a:lnSpc>
              <a:buFont typeface="Wingdings" pitchFamily="2" charset="2"/>
              <a:buChar char="Ø"/>
            </a:pPr>
            <a:endParaRPr lang="en-US" sz="1800" dirty="0"/>
          </a:p>
          <a:p>
            <a:pPr lvl="0">
              <a:lnSpc>
                <a:spcPct val="90000"/>
              </a:lnSpc>
              <a:buFont typeface="Wingdings" pitchFamily="2" charset="2"/>
              <a:buChar char="Ø"/>
            </a:pPr>
            <a:r>
              <a:rPr lang="en-US" sz="1800" dirty="0"/>
              <a:t>Represents a real-world transportation system.</a:t>
            </a:r>
          </a:p>
          <a:p>
            <a:pPr lvl="0">
              <a:lnSpc>
                <a:spcPct val="90000"/>
              </a:lnSpc>
              <a:buFont typeface="Wingdings" pitchFamily="2" charset="2"/>
              <a:buChar char="Ø"/>
            </a:pPr>
            <a:r>
              <a:rPr lang="en-US" sz="1800" dirty="0"/>
              <a:t>Has more than 3.4 million flight level data entries.</a:t>
            </a:r>
          </a:p>
          <a:p>
            <a:pPr lvl="0">
              <a:lnSpc>
                <a:spcPct val="90000"/>
              </a:lnSpc>
              <a:buFont typeface="Wingdings" pitchFamily="2" charset="2"/>
              <a:buChar char="Ø"/>
            </a:pPr>
            <a:r>
              <a:rPr lang="en-US" sz="1800" dirty="0"/>
              <a:t>Facilitates comparison among airlines, airports, routes, and months.</a:t>
            </a:r>
          </a:p>
          <a:p>
            <a:pPr lvl="0">
              <a:lnSpc>
                <a:spcPct val="90000"/>
              </a:lnSpc>
              <a:buFont typeface="Wingdings" pitchFamily="2" charset="2"/>
              <a:buChar char="Ø"/>
            </a:pPr>
            <a:r>
              <a:rPr lang="en-US" sz="1800" dirty="0"/>
              <a:t>Provides details of operation as well as performance measurements.</a:t>
            </a:r>
          </a:p>
          <a:p>
            <a:pPr lvl="0">
              <a:lnSpc>
                <a:spcPct val="90000"/>
              </a:lnSpc>
              <a:buFont typeface="Wingdings" pitchFamily="2" charset="2"/>
              <a:buChar char="Ø"/>
            </a:pPr>
            <a:r>
              <a:rPr lang="en-US" sz="1800" dirty="0"/>
              <a:t>Requires data cleaning and normalization before database implementation.</a:t>
            </a:r>
          </a:p>
          <a:p>
            <a:pPr lvl="0">
              <a:lnSpc>
                <a:spcPct val="90000"/>
              </a:lnSpc>
              <a:buFont typeface="Wingdings" pitchFamily="2" charset="2"/>
              <a:buChar char="Ø"/>
            </a:pPr>
            <a:r>
              <a:rPr lang="en-US" sz="1800" dirty="0"/>
              <a:t>Can be used to formulate both simple and complex SQL queries.</a:t>
            </a:r>
          </a:p>
          <a:p>
            <a:pPr marL="0" lvl="0" indent="0">
              <a:lnSpc>
                <a:spcPct val="90000"/>
              </a:lnSpc>
              <a:buNone/>
            </a:pPr>
            <a:endParaRPr lang="en-US" sz="1800" dirty="0"/>
          </a:p>
          <a:p>
            <a:pPr marL="0" indent="0">
              <a:lnSpc>
                <a:spcPct val="90000"/>
              </a:lnSpc>
              <a:buNone/>
            </a:pPr>
            <a:r>
              <a:rPr lang="en-US" sz="1800" dirty="0"/>
              <a:t>Questions our database will answer :</a:t>
            </a:r>
          </a:p>
          <a:p>
            <a:pPr marL="0" indent="0">
              <a:lnSpc>
                <a:spcPct val="90000"/>
              </a:lnSpc>
              <a:buNone/>
            </a:pPr>
            <a:endParaRPr lang="en-US" sz="1800" dirty="0"/>
          </a:p>
          <a:p>
            <a:pPr lvl="0">
              <a:lnSpc>
                <a:spcPct val="90000"/>
              </a:lnSpc>
              <a:buFont typeface="Wingdings" pitchFamily="2" charset="2"/>
              <a:buChar char="Ø"/>
            </a:pPr>
            <a:r>
              <a:rPr lang="en-US" sz="1800" dirty="0"/>
              <a:t>Which airlines have the best departure and arrival on-time performance?</a:t>
            </a:r>
          </a:p>
          <a:p>
            <a:pPr lvl="0">
              <a:lnSpc>
                <a:spcPct val="90000"/>
              </a:lnSpc>
              <a:buFont typeface="Wingdings" pitchFamily="2" charset="2"/>
              <a:buChar char="Ø"/>
            </a:pPr>
            <a:r>
              <a:rPr lang="en-US" sz="1800" dirty="0"/>
              <a:t>Which airports and routes experience the most delays?</a:t>
            </a:r>
          </a:p>
          <a:p>
            <a:pPr lvl="0">
              <a:lnSpc>
                <a:spcPct val="90000"/>
              </a:lnSpc>
              <a:buFont typeface="Wingdings" pitchFamily="2" charset="2"/>
              <a:buChar char="Ø"/>
            </a:pPr>
            <a:r>
              <a:rPr lang="en-US" sz="1800" dirty="0"/>
              <a:t>What are the most common causes of delays?</a:t>
            </a:r>
          </a:p>
          <a:p>
            <a:pPr lvl="0">
              <a:lnSpc>
                <a:spcPct val="90000"/>
              </a:lnSpc>
              <a:buFont typeface="Wingdings" pitchFamily="2" charset="2"/>
              <a:buChar char="Ø"/>
            </a:pPr>
            <a:r>
              <a:rPr lang="en-US" sz="1800" dirty="0"/>
              <a:t>How do cancellations and diversions vary by airline and month?</a:t>
            </a:r>
          </a:p>
          <a:p>
            <a:pPr>
              <a:lnSpc>
                <a:spcPct val="90000"/>
              </a:lnSpc>
            </a:pP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17251866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" name="Rectangle 40">
            <a:extLst>
              <a:ext uri="{FF2B5EF4-FFF2-40B4-BE49-F238E27FC236}">
                <a16:creationId xmlns:a16="http://schemas.microsoft.com/office/drawing/2014/main" id="{052BEFF1-896C-45B1-B02C-96A6A1BC38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Freeform 36">
            <a:extLst>
              <a:ext uri="{FF2B5EF4-FFF2-40B4-BE49-F238E27FC236}">
                <a16:creationId xmlns:a16="http://schemas.microsoft.com/office/drawing/2014/main" id="{BB237A14-61B1-4C00-A670-5D8D68A866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644637" y="0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tx2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Freeform: Shape 44">
            <a:extLst>
              <a:ext uri="{FF2B5EF4-FFF2-40B4-BE49-F238E27FC236}">
                <a16:creationId xmlns:a16="http://schemas.microsoft.com/office/drawing/2014/main" id="{8598F259-6F54-47A3-8D13-1603D786A3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"/>
            <a:ext cx="4990911" cy="6858001"/>
          </a:xfrm>
          <a:custGeom>
            <a:avLst/>
            <a:gdLst>
              <a:gd name="connsiteX0" fmla="*/ 3646196 w 4990911"/>
              <a:gd name="connsiteY0" fmla="*/ 0 h 6858001"/>
              <a:gd name="connsiteX1" fmla="*/ 4989734 w 4990911"/>
              <a:gd name="connsiteY1" fmla="*/ 0 h 6858001"/>
              <a:gd name="connsiteX2" fmla="*/ 4964689 w 4990911"/>
              <a:gd name="connsiteY2" fmla="*/ 155677 h 6858001"/>
              <a:gd name="connsiteX3" fmla="*/ 4940820 w 4990911"/>
              <a:gd name="connsiteY3" fmla="*/ 310668 h 6858001"/>
              <a:gd name="connsiteX4" fmla="*/ 4917456 w 4990911"/>
              <a:gd name="connsiteY4" fmla="*/ 466344 h 6858001"/>
              <a:gd name="connsiteX5" fmla="*/ 4897453 w 4990911"/>
              <a:gd name="connsiteY5" fmla="*/ 622707 h 6858001"/>
              <a:gd name="connsiteX6" fmla="*/ 4877282 w 4990911"/>
              <a:gd name="connsiteY6" fmla="*/ 778383 h 6858001"/>
              <a:gd name="connsiteX7" fmla="*/ 4858456 w 4990911"/>
              <a:gd name="connsiteY7" fmla="*/ 934746 h 6858001"/>
              <a:gd name="connsiteX8" fmla="*/ 4842320 w 4990911"/>
              <a:gd name="connsiteY8" fmla="*/ 1089051 h 6858001"/>
              <a:gd name="connsiteX9" fmla="*/ 4827024 w 4990911"/>
              <a:gd name="connsiteY9" fmla="*/ 1245413 h 6858001"/>
              <a:gd name="connsiteX10" fmla="*/ 4813072 w 4990911"/>
              <a:gd name="connsiteY10" fmla="*/ 1401090 h 6858001"/>
              <a:gd name="connsiteX11" fmla="*/ 4800970 w 4990911"/>
              <a:gd name="connsiteY11" fmla="*/ 1554023 h 6858001"/>
              <a:gd name="connsiteX12" fmla="*/ 4788867 w 4990911"/>
              <a:gd name="connsiteY12" fmla="*/ 1709014 h 6858001"/>
              <a:gd name="connsiteX13" fmla="*/ 4778782 w 4990911"/>
              <a:gd name="connsiteY13" fmla="*/ 1861947 h 6858001"/>
              <a:gd name="connsiteX14" fmla="*/ 4770882 w 4990911"/>
              <a:gd name="connsiteY14" fmla="*/ 2014881 h 6858001"/>
              <a:gd name="connsiteX15" fmla="*/ 4762645 w 4990911"/>
              <a:gd name="connsiteY15" fmla="*/ 2167128 h 6858001"/>
              <a:gd name="connsiteX16" fmla="*/ 4755754 w 4990911"/>
              <a:gd name="connsiteY16" fmla="*/ 2318004 h 6858001"/>
              <a:gd name="connsiteX17" fmla="*/ 4750879 w 4990911"/>
              <a:gd name="connsiteY17" fmla="*/ 2467509 h 6858001"/>
              <a:gd name="connsiteX18" fmla="*/ 4746677 w 4990911"/>
              <a:gd name="connsiteY18" fmla="*/ 2617013 h 6858001"/>
              <a:gd name="connsiteX19" fmla="*/ 4742643 w 4990911"/>
              <a:gd name="connsiteY19" fmla="*/ 2765146 h 6858001"/>
              <a:gd name="connsiteX20" fmla="*/ 4740794 w 4990911"/>
              <a:gd name="connsiteY20" fmla="*/ 2911221 h 6858001"/>
              <a:gd name="connsiteX21" fmla="*/ 4738777 w 4990911"/>
              <a:gd name="connsiteY21" fmla="*/ 3057297 h 6858001"/>
              <a:gd name="connsiteX22" fmla="*/ 4737768 w 4990911"/>
              <a:gd name="connsiteY22" fmla="*/ 3201315 h 6858001"/>
              <a:gd name="connsiteX23" fmla="*/ 4738777 w 4990911"/>
              <a:gd name="connsiteY23" fmla="*/ 3343961 h 6858001"/>
              <a:gd name="connsiteX24" fmla="*/ 4738777 w 4990911"/>
              <a:gd name="connsiteY24" fmla="*/ 3485236 h 6858001"/>
              <a:gd name="connsiteX25" fmla="*/ 4740794 w 4990911"/>
              <a:gd name="connsiteY25" fmla="*/ 3625139 h 6858001"/>
              <a:gd name="connsiteX26" fmla="*/ 4743819 w 4990911"/>
              <a:gd name="connsiteY26" fmla="*/ 3762299 h 6858001"/>
              <a:gd name="connsiteX27" fmla="*/ 4746677 w 4990911"/>
              <a:gd name="connsiteY27" fmla="*/ 3898087 h 6858001"/>
              <a:gd name="connsiteX28" fmla="*/ 4749871 w 4990911"/>
              <a:gd name="connsiteY28" fmla="*/ 4031133 h 6858001"/>
              <a:gd name="connsiteX29" fmla="*/ 4754745 w 4990911"/>
              <a:gd name="connsiteY29" fmla="*/ 4163492 h 6858001"/>
              <a:gd name="connsiteX30" fmla="*/ 4759956 w 4990911"/>
              <a:gd name="connsiteY30" fmla="*/ 4293793 h 6858001"/>
              <a:gd name="connsiteX31" fmla="*/ 4764662 w 4990911"/>
              <a:gd name="connsiteY31" fmla="*/ 4421352 h 6858001"/>
              <a:gd name="connsiteX32" fmla="*/ 4777942 w 4990911"/>
              <a:gd name="connsiteY32" fmla="*/ 4670298 h 6858001"/>
              <a:gd name="connsiteX33" fmla="*/ 4792061 w 4990911"/>
              <a:gd name="connsiteY33" fmla="*/ 4908956 h 6858001"/>
              <a:gd name="connsiteX34" fmla="*/ 4806853 w 4990911"/>
              <a:gd name="connsiteY34" fmla="*/ 5138013 h 6858001"/>
              <a:gd name="connsiteX35" fmla="*/ 4823158 w 4990911"/>
              <a:gd name="connsiteY35" fmla="*/ 5354726 h 6858001"/>
              <a:gd name="connsiteX36" fmla="*/ 4840135 w 4990911"/>
              <a:gd name="connsiteY36" fmla="*/ 5561838 h 6858001"/>
              <a:gd name="connsiteX37" fmla="*/ 4858456 w 4990911"/>
              <a:gd name="connsiteY37" fmla="*/ 5753862 h 6858001"/>
              <a:gd name="connsiteX38" fmla="*/ 4876442 w 4990911"/>
              <a:gd name="connsiteY38" fmla="*/ 5934227 h 6858001"/>
              <a:gd name="connsiteX39" fmla="*/ 4894427 w 4990911"/>
              <a:gd name="connsiteY39" fmla="*/ 6100191 h 6858001"/>
              <a:gd name="connsiteX40" fmla="*/ 4911404 w 4990911"/>
              <a:gd name="connsiteY40" fmla="*/ 6252438 h 6858001"/>
              <a:gd name="connsiteX41" fmla="*/ 4927541 w 4990911"/>
              <a:gd name="connsiteY41" fmla="*/ 6387541 h 6858001"/>
              <a:gd name="connsiteX42" fmla="*/ 4942837 w 4990911"/>
              <a:gd name="connsiteY42" fmla="*/ 6509613 h 6858001"/>
              <a:gd name="connsiteX43" fmla="*/ 4955612 w 4990911"/>
              <a:gd name="connsiteY43" fmla="*/ 6612483 h 6858001"/>
              <a:gd name="connsiteX44" fmla="*/ 4967714 w 4990911"/>
              <a:gd name="connsiteY44" fmla="*/ 6698894 h 6858001"/>
              <a:gd name="connsiteX45" fmla="*/ 4985028 w 4990911"/>
              <a:gd name="connsiteY45" fmla="*/ 6817538 h 6858001"/>
              <a:gd name="connsiteX46" fmla="*/ 4990911 w 4990911"/>
              <a:gd name="connsiteY46" fmla="*/ 6858000 h 6858001"/>
              <a:gd name="connsiteX47" fmla="*/ 4085557 w 4990911"/>
              <a:gd name="connsiteY47" fmla="*/ 6858000 h 6858001"/>
              <a:gd name="connsiteX48" fmla="*/ 4085557 w 4990911"/>
              <a:gd name="connsiteY48" fmla="*/ 6858001 h 6858001"/>
              <a:gd name="connsiteX49" fmla="*/ 0 w 4990911"/>
              <a:gd name="connsiteY49" fmla="*/ 6858001 h 6858001"/>
              <a:gd name="connsiteX50" fmla="*/ 0 w 4990911"/>
              <a:gd name="connsiteY50" fmla="*/ 1 h 6858001"/>
              <a:gd name="connsiteX51" fmla="*/ 3646196 w 4990911"/>
              <a:gd name="connsiteY51" fmla="*/ 1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4990911" h="6858001">
                <a:moveTo>
                  <a:pt x="3646196" y="0"/>
                </a:moveTo>
                <a:lnTo>
                  <a:pt x="4989734" y="0"/>
                </a:lnTo>
                <a:lnTo>
                  <a:pt x="4964689" y="155677"/>
                </a:lnTo>
                <a:lnTo>
                  <a:pt x="4940820" y="310668"/>
                </a:lnTo>
                <a:lnTo>
                  <a:pt x="4917456" y="466344"/>
                </a:lnTo>
                <a:lnTo>
                  <a:pt x="4897453" y="622707"/>
                </a:lnTo>
                <a:lnTo>
                  <a:pt x="4877282" y="778383"/>
                </a:lnTo>
                <a:lnTo>
                  <a:pt x="4858456" y="934746"/>
                </a:lnTo>
                <a:lnTo>
                  <a:pt x="4842320" y="1089051"/>
                </a:lnTo>
                <a:lnTo>
                  <a:pt x="4827024" y="1245413"/>
                </a:lnTo>
                <a:lnTo>
                  <a:pt x="4813072" y="1401090"/>
                </a:lnTo>
                <a:lnTo>
                  <a:pt x="4800970" y="1554023"/>
                </a:lnTo>
                <a:lnTo>
                  <a:pt x="4788867" y="1709014"/>
                </a:lnTo>
                <a:lnTo>
                  <a:pt x="4778782" y="1861947"/>
                </a:lnTo>
                <a:lnTo>
                  <a:pt x="4770882" y="2014881"/>
                </a:lnTo>
                <a:lnTo>
                  <a:pt x="4762645" y="2167128"/>
                </a:lnTo>
                <a:lnTo>
                  <a:pt x="4755754" y="2318004"/>
                </a:lnTo>
                <a:lnTo>
                  <a:pt x="4750879" y="2467509"/>
                </a:lnTo>
                <a:lnTo>
                  <a:pt x="4746677" y="2617013"/>
                </a:lnTo>
                <a:lnTo>
                  <a:pt x="4742643" y="2765146"/>
                </a:lnTo>
                <a:lnTo>
                  <a:pt x="4740794" y="2911221"/>
                </a:lnTo>
                <a:lnTo>
                  <a:pt x="4738777" y="3057297"/>
                </a:lnTo>
                <a:lnTo>
                  <a:pt x="4737768" y="3201315"/>
                </a:lnTo>
                <a:lnTo>
                  <a:pt x="4738777" y="3343961"/>
                </a:lnTo>
                <a:lnTo>
                  <a:pt x="4738777" y="3485236"/>
                </a:lnTo>
                <a:lnTo>
                  <a:pt x="4740794" y="3625139"/>
                </a:lnTo>
                <a:lnTo>
                  <a:pt x="4743819" y="3762299"/>
                </a:lnTo>
                <a:lnTo>
                  <a:pt x="4746677" y="3898087"/>
                </a:lnTo>
                <a:lnTo>
                  <a:pt x="4749871" y="4031133"/>
                </a:lnTo>
                <a:lnTo>
                  <a:pt x="4754745" y="4163492"/>
                </a:lnTo>
                <a:lnTo>
                  <a:pt x="4759956" y="4293793"/>
                </a:lnTo>
                <a:lnTo>
                  <a:pt x="4764662" y="4421352"/>
                </a:lnTo>
                <a:lnTo>
                  <a:pt x="4777942" y="4670298"/>
                </a:lnTo>
                <a:lnTo>
                  <a:pt x="4792061" y="4908956"/>
                </a:lnTo>
                <a:lnTo>
                  <a:pt x="4806853" y="5138013"/>
                </a:lnTo>
                <a:lnTo>
                  <a:pt x="4823158" y="5354726"/>
                </a:lnTo>
                <a:lnTo>
                  <a:pt x="4840135" y="5561838"/>
                </a:lnTo>
                <a:lnTo>
                  <a:pt x="4858456" y="5753862"/>
                </a:lnTo>
                <a:lnTo>
                  <a:pt x="4876442" y="5934227"/>
                </a:lnTo>
                <a:lnTo>
                  <a:pt x="4894427" y="6100191"/>
                </a:lnTo>
                <a:lnTo>
                  <a:pt x="4911404" y="6252438"/>
                </a:lnTo>
                <a:lnTo>
                  <a:pt x="4927541" y="6387541"/>
                </a:lnTo>
                <a:lnTo>
                  <a:pt x="4942837" y="6509613"/>
                </a:lnTo>
                <a:lnTo>
                  <a:pt x="4955612" y="6612483"/>
                </a:lnTo>
                <a:lnTo>
                  <a:pt x="4967714" y="6698894"/>
                </a:lnTo>
                <a:lnTo>
                  <a:pt x="4985028" y="6817538"/>
                </a:lnTo>
                <a:lnTo>
                  <a:pt x="4990911" y="6858000"/>
                </a:lnTo>
                <a:lnTo>
                  <a:pt x="4085557" y="6858000"/>
                </a:lnTo>
                <a:lnTo>
                  <a:pt x="4085557" y="6858001"/>
                </a:lnTo>
                <a:lnTo>
                  <a:pt x="0" y="6858001"/>
                </a:lnTo>
                <a:lnTo>
                  <a:pt x="0" y="1"/>
                </a:lnTo>
                <a:lnTo>
                  <a:pt x="3646196" y="1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0BA768A8-4FED-4ED8-9E46-6BE72188EC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B5FDBB-B1A7-B077-7904-9AE441DEFD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0880" y="2484120"/>
            <a:ext cx="3522879" cy="4470821"/>
          </a:xfrm>
        </p:spPr>
        <p:txBody>
          <a:bodyPr>
            <a:normAutofit/>
          </a:bodyPr>
          <a:lstStyle/>
          <a:p>
            <a:pPr algn="ctr"/>
            <a:r>
              <a:rPr lang="en-US" sz="3200" dirty="0">
                <a:solidFill>
                  <a:srgbClr val="FFFFFF"/>
                </a:solidFill>
              </a:rPr>
              <a:t>Dataset Complexity</a:t>
            </a:r>
          </a:p>
        </p:txBody>
      </p:sp>
      <p:sp>
        <p:nvSpPr>
          <p:cNvPr id="36" name="Content Placeholder 2">
            <a:extLst>
              <a:ext uri="{FF2B5EF4-FFF2-40B4-BE49-F238E27FC236}">
                <a16:creationId xmlns:a16="http://schemas.microsoft.com/office/drawing/2014/main" id="{47F8272E-812B-5DDA-77C5-A064B84600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97511" y="1230840"/>
            <a:ext cx="6987890" cy="5300980"/>
          </a:xfrm>
        </p:spPr>
        <p:txBody>
          <a:bodyPr>
            <a:norm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US" sz="1600" b="1" dirty="0"/>
              <a:t>Data Preparation and Cleaning Needs</a:t>
            </a:r>
            <a:endParaRPr lang="en-US" sz="1600" dirty="0"/>
          </a:p>
          <a:p>
            <a:pPr lvl="0">
              <a:lnSpc>
                <a:spcPct val="90000"/>
              </a:lnSpc>
              <a:buClr>
                <a:schemeClr val="tx1"/>
              </a:buClr>
              <a:buFont typeface="Wingdings" pitchFamily="2" charset="2"/>
              <a:buChar char="Ø"/>
            </a:pPr>
            <a:r>
              <a:rPr lang="en-US" sz="1800" dirty="0"/>
              <a:t>Combine six monthly files with consistent column structures.</a:t>
            </a:r>
          </a:p>
          <a:p>
            <a:pPr lvl="0">
              <a:lnSpc>
                <a:spcPct val="90000"/>
              </a:lnSpc>
              <a:buClr>
                <a:schemeClr val="tx1"/>
              </a:buClr>
              <a:buFont typeface="Wingdings" pitchFamily="2" charset="2"/>
              <a:buChar char="Ø"/>
            </a:pPr>
            <a:r>
              <a:rPr lang="en-US" sz="1800" dirty="0"/>
              <a:t>Normalize to 1NF , 2NF, 3NF.</a:t>
            </a:r>
          </a:p>
          <a:p>
            <a:pPr lvl="0">
              <a:lnSpc>
                <a:spcPct val="90000"/>
              </a:lnSpc>
              <a:buClr>
                <a:schemeClr val="tx1"/>
              </a:buClr>
              <a:buFont typeface="Wingdings" pitchFamily="2" charset="2"/>
              <a:buChar char="Ø"/>
            </a:pPr>
            <a:r>
              <a:rPr lang="en-US" sz="1800" dirty="0"/>
              <a:t>We have also downloaded the parent lookup tables for mapping .</a:t>
            </a:r>
          </a:p>
          <a:p>
            <a:pPr lvl="0">
              <a:lnSpc>
                <a:spcPct val="90000"/>
              </a:lnSpc>
              <a:buClr>
                <a:schemeClr val="tx1"/>
              </a:buClr>
              <a:buFont typeface="Wingdings" pitchFamily="2" charset="2"/>
              <a:buChar char="Ø"/>
            </a:pPr>
            <a:r>
              <a:rPr lang="en-US" sz="1800" dirty="0"/>
              <a:t>Convert blank values to NULL rather than treating them as zero.</a:t>
            </a:r>
          </a:p>
          <a:p>
            <a:pPr lvl="0">
              <a:lnSpc>
                <a:spcPct val="90000"/>
              </a:lnSpc>
              <a:buClr>
                <a:schemeClr val="tx1"/>
              </a:buClr>
              <a:buFont typeface="Wingdings" pitchFamily="2" charset="2"/>
              <a:buChar char="Ø"/>
            </a:pPr>
            <a:r>
              <a:rPr lang="en-US" sz="1800" dirty="0"/>
              <a:t>Keep negative delays as negative because they show early departures/arrivals.</a:t>
            </a:r>
          </a:p>
          <a:p>
            <a:pPr lvl="0">
              <a:lnSpc>
                <a:spcPct val="90000"/>
              </a:lnSpc>
              <a:buClr>
                <a:schemeClr val="tx1"/>
              </a:buClr>
              <a:buFont typeface="Wingdings" pitchFamily="2" charset="2"/>
              <a:buChar char="Ø"/>
            </a:pPr>
            <a:r>
              <a:rPr lang="en-US" sz="1800" dirty="0"/>
              <a:t>Convert FL_DATE, which includes a time portion, into a proper date value.</a:t>
            </a:r>
          </a:p>
          <a:p>
            <a:pPr lvl="0">
              <a:lnSpc>
                <a:spcPct val="90000"/>
              </a:lnSpc>
              <a:buClr>
                <a:schemeClr val="tx1"/>
              </a:buClr>
              <a:buFont typeface="Wingdings" pitchFamily="2" charset="2"/>
              <a:buChar char="Ø"/>
            </a:pPr>
            <a:r>
              <a:rPr lang="en-US" sz="1800" dirty="0"/>
              <a:t>Standardize scheduled time fields such as 0600 and 0915.</a:t>
            </a:r>
          </a:p>
          <a:p>
            <a:pPr lvl="0">
              <a:lnSpc>
                <a:spcPct val="90000"/>
              </a:lnSpc>
              <a:buClr>
                <a:schemeClr val="tx1"/>
              </a:buClr>
              <a:buFont typeface="Wingdings" pitchFamily="2" charset="2"/>
              <a:buChar char="Ø"/>
            </a:pPr>
            <a:r>
              <a:rPr lang="en-US" sz="1800" dirty="0"/>
              <a:t>Treat CANCELLED and DIVERTED fields as Boolean fields.</a:t>
            </a:r>
          </a:p>
          <a:p>
            <a:pPr lvl="0">
              <a:lnSpc>
                <a:spcPct val="90000"/>
              </a:lnSpc>
              <a:buClr>
                <a:schemeClr val="tx1"/>
              </a:buClr>
              <a:buFont typeface="Wingdings" pitchFamily="2" charset="2"/>
              <a:buChar char="Ø"/>
            </a:pPr>
            <a:r>
              <a:rPr lang="en-US" sz="1800" dirty="0"/>
              <a:t>Handle diversion-summary fields, which may be NULL for non-diverted flights.</a:t>
            </a:r>
          </a:p>
          <a:p>
            <a:pPr>
              <a:lnSpc>
                <a:spcPct val="90000"/>
              </a:lnSpc>
            </a:pP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19144533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Rectangle 49">
            <a:extLst>
              <a:ext uri="{FF2B5EF4-FFF2-40B4-BE49-F238E27FC236}">
                <a16:creationId xmlns:a16="http://schemas.microsoft.com/office/drawing/2014/main" id="{B4AAD3FD-83A5-4B89-9F8F-01B8870865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18BC452-6554-C0F9-5C37-FDD7E0C4E3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7155" y="993058"/>
            <a:ext cx="4899643" cy="1165119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200" b="0" i="0" kern="1200" dirty="0">
                <a:solidFill>
                  <a:srgbClr val="EBEBEB"/>
                </a:solidFill>
                <a:latin typeface="+mj-lt"/>
                <a:ea typeface="+mj-ea"/>
                <a:cs typeface="+mj-cs"/>
              </a:rPr>
              <a:t>Columns Used for the Database</a:t>
            </a:r>
          </a:p>
        </p:txBody>
      </p:sp>
      <p:sp>
        <p:nvSpPr>
          <p:cNvPr id="51" name="Freeform 31">
            <a:extLst>
              <a:ext uri="{FF2B5EF4-FFF2-40B4-BE49-F238E27FC236}">
                <a16:creationId xmlns:a16="http://schemas.microsoft.com/office/drawing/2014/main" id="{61752F1D-FC0F-4103-9584-630E643CCD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94020" y="-1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52" name="Freeform: Shape 45">
            <a:extLst>
              <a:ext uri="{FF2B5EF4-FFF2-40B4-BE49-F238E27FC236}">
                <a16:creationId xmlns:a16="http://schemas.microsoft.com/office/drawing/2014/main" id="{70151CB7-E7DE-4917-B831-01DF9CE013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6200000">
            <a:off x="5270819" y="-63600"/>
            <a:ext cx="6858001" cy="6985200"/>
          </a:xfrm>
          <a:custGeom>
            <a:avLst/>
            <a:gdLst>
              <a:gd name="connsiteX0" fmla="*/ 6858001 w 6858001"/>
              <a:gd name="connsiteY0" fmla="*/ 1177 h 6985200"/>
              <a:gd name="connsiteX1" fmla="*/ 6858001 w 6858001"/>
              <a:gd name="connsiteY1" fmla="*/ 1344715 h 6985200"/>
              <a:gd name="connsiteX2" fmla="*/ 6858000 w 6858001"/>
              <a:gd name="connsiteY2" fmla="*/ 1344715 h 6985200"/>
              <a:gd name="connsiteX3" fmla="*/ 6858000 w 6858001"/>
              <a:gd name="connsiteY3" fmla="*/ 6985200 h 6985200"/>
              <a:gd name="connsiteX4" fmla="*/ 0 w 6858001"/>
              <a:gd name="connsiteY4" fmla="*/ 6985199 h 6985200"/>
              <a:gd name="connsiteX5" fmla="*/ 0 w 6858001"/>
              <a:gd name="connsiteY5" fmla="*/ 886772 h 6985200"/>
              <a:gd name="connsiteX6" fmla="*/ 1 w 6858001"/>
              <a:gd name="connsiteY6" fmla="*/ 886772 h 6985200"/>
              <a:gd name="connsiteX7" fmla="*/ 1 w 6858001"/>
              <a:gd name="connsiteY7" fmla="*/ 0 h 6985200"/>
              <a:gd name="connsiteX8" fmla="*/ 40463 w 6858001"/>
              <a:gd name="connsiteY8" fmla="*/ 5883 h 6985200"/>
              <a:gd name="connsiteX9" fmla="*/ 159107 w 6858001"/>
              <a:gd name="connsiteY9" fmla="*/ 23196 h 6985200"/>
              <a:gd name="connsiteX10" fmla="*/ 245518 w 6858001"/>
              <a:gd name="connsiteY10" fmla="*/ 35299 h 6985200"/>
              <a:gd name="connsiteX11" fmla="*/ 348388 w 6858001"/>
              <a:gd name="connsiteY11" fmla="*/ 48073 h 6985200"/>
              <a:gd name="connsiteX12" fmla="*/ 470460 w 6858001"/>
              <a:gd name="connsiteY12" fmla="*/ 63369 h 6985200"/>
              <a:gd name="connsiteX13" fmla="*/ 605563 w 6858001"/>
              <a:gd name="connsiteY13" fmla="*/ 79506 h 6985200"/>
              <a:gd name="connsiteX14" fmla="*/ 757810 w 6858001"/>
              <a:gd name="connsiteY14" fmla="*/ 96483 h 6985200"/>
              <a:gd name="connsiteX15" fmla="*/ 923774 w 6858001"/>
              <a:gd name="connsiteY15" fmla="*/ 114469 h 6985200"/>
              <a:gd name="connsiteX16" fmla="*/ 1104139 w 6858001"/>
              <a:gd name="connsiteY16" fmla="*/ 132454 h 6985200"/>
              <a:gd name="connsiteX17" fmla="*/ 1296163 w 6858001"/>
              <a:gd name="connsiteY17" fmla="*/ 150776 h 6985200"/>
              <a:gd name="connsiteX18" fmla="*/ 1503275 w 6858001"/>
              <a:gd name="connsiteY18" fmla="*/ 167753 h 6985200"/>
              <a:gd name="connsiteX19" fmla="*/ 1719988 w 6858001"/>
              <a:gd name="connsiteY19" fmla="*/ 184058 h 6985200"/>
              <a:gd name="connsiteX20" fmla="*/ 1949045 w 6858001"/>
              <a:gd name="connsiteY20" fmla="*/ 198849 h 6985200"/>
              <a:gd name="connsiteX21" fmla="*/ 2187703 w 6858001"/>
              <a:gd name="connsiteY21" fmla="*/ 212969 h 6985200"/>
              <a:gd name="connsiteX22" fmla="*/ 2436649 w 6858001"/>
              <a:gd name="connsiteY22" fmla="*/ 226248 h 6985200"/>
              <a:gd name="connsiteX23" fmla="*/ 2564208 w 6858001"/>
              <a:gd name="connsiteY23" fmla="*/ 230955 h 6985200"/>
              <a:gd name="connsiteX24" fmla="*/ 2694509 w 6858001"/>
              <a:gd name="connsiteY24" fmla="*/ 236165 h 6985200"/>
              <a:gd name="connsiteX25" fmla="*/ 2826869 w 6858001"/>
              <a:gd name="connsiteY25" fmla="*/ 241040 h 6985200"/>
              <a:gd name="connsiteX26" fmla="*/ 2959914 w 6858001"/>
              <a:gd name="connsiteY26" fmla="*/ 244234 h 6985200"/>
              <a:gd name="connsiteX27" fmla="*/ 3095702 w 6858001"/>
              <a:gd name="connsiteY27" fmla="*/ 247091 h 6985200"/>
              <a:gd name="connsiteX28" fmla="*/ 3232862 w 6858001"/>
              <a:gd name="connsiteY28" fmla="*/ 250117 h 6985200"/>
              <a:gd name="connsiteX29" fmla="*/ 3372766 w 6858001"/>
              <a:gd name="connsiteY29" fmla="*/ 252134 h 6985200"/>
              <a:gd name="connsiteX30" fmla="*/ 3514040 w 6858001"/>
              <a:gd name="connsiteY30" fmla="*/ 252134 h 6985200"/>
              <a:gd name="connsiteX31" fmla="*/ 3656686 w 6858001"/>
              <a:gd name="connsiteY31" fmla="*/ 253142 h 6985200"/>
              <a:gd name="connsiteX32" fmla="*/ 3800705 w 6858001"/>
              <a:gd name="connsiteY32" fmla="*/ 252134 h 6985200"/>
              <a:gd name="connsiteX33" fmla="*/ 3946780 w 6858001"/>
              <a:gd name="connsiteY33" fmla="*/ 250117 h 6985200"/>
              <a:gd name="connsiteX34" fmla="*/ 4092856 w 6858001"/>
              <a:gd name="connsiteY34" fmla="*/ 248268 h 6985200"/>
              <a:gd name="connsiteX35" fmla="*/ 4240988 w 6858001"/>
              <a:gd name="connsiteY35" fmla="*/ 244234 h 6985200"/>
              <a:gd name="connsiteX36" fmla="*/ 4390492 w 6858001"/>
              <a:gd name="connsiteY36" fmla="*/ 240032 h 6985200"/>
              <a:gd name="connsiteX37" fmla="*/ 4539997 w 6858001"/>
              <a:gd name="connsiteY37" fmla="*/ 235157 h 6985200"/>
              <a:gd name="connsiteX38" fmla="*/ 4690873 w 6858001"/>
              <a:gd name="connsiteY38" fmla="*/ 228266 h 6985200"/>
              <a:gd name="connsiteX39" fmla="*/ 4843120 w 6858001"/>
              <a:gd name="connsiteY39" fmla="*/ 220029 h 6985200"/>
              <a:gd name="connsiteX40" fmla="*/ 4996054 w 6858001"/>
              <a:gd name="connsiteY40" fmla="*/ 212129 h 6985200"/>
              <a:gd name="connsiteX41" fmla="*/ 5148987 w 6858001"/>
              <a:gd name="connsiteY41" fmla="*/ 202044 h 6985200"/>
              <a:gd name="connsiteX42" fmla="*/ 5303978 w 6858001"/>
              <a:gd name="connsiteY42" fmla="*/ 189941 h 6985200"/>
              <a:gd name="connsiteX43" fmla="*/ 5456911 w 6858001"/>
              <a:gd name="connsiteY43" fmla="*/ 177839 h 6985200"/>
              <a:gd name="connsiteX44" fmla="*/ 5612588 w 6858001"/>
              <a:gd name="connsiteY44" fmla="*/ 163887 h 6985200"/>
              <a:gd name="connsiteX45" fmla="*/ 5768950 w 6858001"/>
              <a:gd name="connsiteY45" fmla="*/ 148591 h 6985200"/>
              <a:gd name="connsiteX46" fmla="*/ 5923255 w 6858001"/>
              <a:gd name="connsiteY46" fmla="*/ 132455 h 6985200"/>
              <a:gd name="connsiteX47" fmla="*/ 6079618 w 6858001"/>
              <a:gd name="connsiteY47" fmla="*/ 113629 h 6985200"/>
              <a:gd name="connsiteX48" fmla="*/ 6235294 w 6858001"/>
              <a:gd name="connsiteY48" fmla="*/ 93458 h 6985200"/>
              <a:gd name="connsiteX49" fmla="*/ 6391657 w 6858001"/>
              <a:gd name="connsiteY49" fmla="*/ 73455 h 6985200"/>
              <a:gd name="connsiteX50" fmla="*/ 6547333 w 6858001"/>
              <a:gd name="connsiteY50" fmla="*/ 50091 h 6985200"/>
              <a:gd name="connsiteX51" fmla="*/ 6702324 w 6858001"/>
              <a:gd name="connsiteY51" fmla="*/ 26222 h 6985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858001" h="6985200">
                <a:moveTo>
                  <a:pt x="6858001" y="1177"/>
                </a:moveTo>
                <a:lnTo>
                  <a:pt x="6858001" y="1344715"/>
                </a:lnTo>
                <a:lnTo>
                  <a:pt x="6858000" y="1344715"/>
                </a:lnTo>
                <a:lnTo>
                  <a:pt x="6858000" y="6985200"/>
                </a:lnTo>
                <a:lnTo>
                  <a:pt x="0" y="6985199"/>
                </a:lnTo>
                <a:lnTo>
                  <a:pt x="0" y="886772"/>
                </a:lnTo>
                <a:lnTo>
                  <a:pt x="1" y="886772"/>
                </a:lnTo>
                <a:lnTo>
                  <a:pt x="1" y="0"/>
                </a:lnTo>
                <a:lnTo>
                  <a:pt x="40463" y="5883"/>
                </a:lnTo>
                <a:lnTo>
                  <a:pt x="159107" y="23196"/>
                </a:lnTo>
                <a:lnTo>
                  <a:pt x="245518" y="35299"/>
                </a:lnTo>
                <a:lnTo>
                  <a:pt x="348388" y="48073"/>
                </a:lnTo>
                <a:lnTo>
                  <a:pt x="470460" y="63369"/>
                </a:lnTo>
                <a:lnTo>
                  <a:pt x="605563" y="79506"/>
                </a:lnTo>
                <a:lnTo>
                  <a:pt x="757810" y="96483"/>
                </a:lnTo>
                <a:lnTo>
                  <a:pt x="923774" y="114469"/>
                </a:lnTo>
                <a:lnTo>
                  <a:pt x="1104139" y="132454"/>
                </a:lnTo>
                <a:lnTo>
                  <a:pt x="1296163" y="150776"/>
                </a:lnTo>
                <a:lnTo>
                  <a:pt x="1503275" y="167753"/>
                </a:lnTo>
                <a:lnTo>
                  <a:pt x="1719988" y="184058"/>
                </a:lnTo>
                <a:lnTo>
                  <a:pt x="1949045" y="198849"/>
                </a:lnTo>
                <a:lnTo>
                  <a:pt x="2187703" y="212969"/>
                </a:lnTo>
                <a:lnTo>
                  <a:pt x="2436649" y="226248"/>
                </a:lnTo>
                <a:lnTo>
                  <a:pt x="2564208" y="230955"/>
                </a:lnTo>
                <a:lnTo>
                  <a:pt x="2694509" y="236165"/>
                </a:lnTo>
                <a:lnTo>
                  <a:pt x="2826869" y="241040"/>
                </a:lnTo>
                <a:lnTo>
                  <a:pt x="2959914" y="244234"/>
                </a:lnTo>
                <a:lnTo>
                  <a:pt x="3095702" y="247091"/>
                </a:lnTo>
                <a:lnTo>
                  <a:pt x="3232862" y="250117"/>
                </a:lnTo>
                <a:lnTo>
                  <a:pt x="3372766" y="252134"/>
                </a:lnTo>
                <a:lnTo>
                  <a:pt x="3514040" y="252134"/>
                </a:lnTo>
                <a:lnTo>
                  <a:pt x="3656686" y="253142"/>
                </a:lnTo>
                <a:lnTo>
                  <a:pt x="3800705" y="252134"/>
                </a:lnTo>
                <a:lnTo>
                  <a:pt x="3946780" y="250117"/>
                </a:lnTo>
                <a:lnTo>
                  <a:pt x="4092856" y="248268"/>
                </a:lnTo>
                <a:lnTo>
                  <a:pt x="4240988" y="244234"/>
                </a:lnTo>
                <a:lnTo>
                  <a:pt x="4390492" y="240032"/>
                </a:lnTo>
                <a:lnTo>
                  <a:pt x="4539997" y="235157"/>
                </a:lnTo>
                <a:lnTo>
                  <a:pt x="4690873" y="228266"/>
                </a:lnTo>
                <a:lnTo>
                  <a:pt x="4843120" y="220029"/>
                </a:lnTo>
                <a:lnTo>
                  <a:pt x="4996054" y="212129"/>
                </a:lnTo>
                <a:lnTo>
                  <a:pt x="5148987" y="202044"/>
                </a:lnTo>
                <a:lnTo>
                  <a:pt x="5303978" y="189941"/>
                </a:lnTo>
                <a:lnTo>
                  <a:pt x="5456911" y="177839"/>
                </a:lnTo>
                <a:lnTo>
                  <a:pt x="5612588" y="163887"/>
                </a:lnTo>
                <a:lnTo>
                  <a:pt x="5768950" y="148591"/>
                </a:lnTo>
                <a:lnTo>
                  <a:pt x="5923255" y="132455"/>
                </a:lnTo>
                <a:lnTo>
                  <a:pt x="6079618" y="113629"/>
                </a:lnTo>
                <a:lnTo>
                  <a:pt x="6235294" y="93458"/>
                </a:lnTo>
                <a:lnTo>
                  <a:pt x="6391657" y="73455"/>
                </a:lnTo>
                <a:lnTo>
                  <a:pt x="6547333" y="50091"/>
                </a:lnTo>
                <a:lnTo>
                  <a:pt x="6702324" y="26222"/>
                </a:lnTo>
                <a:close/>
              </a:path>
            </a:pathLst>
          </a:custGeom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A92A1116-1C84-41DF-B803-1F7B0883EC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4244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F65730C-2F4D-A47B-9A2E-4449D7C976A4}"/>
              </a:ext>
            </a:extLst>
          </p:cNvPr>
          <p:cNvSpPr txBox="1"/>
          <p:nvPr/>
        </p:nvSpPr>
        <p:spPr>
          <a:xfrm>
            <a:off x="307157" y="2615379"/>
            <a:ext cx="4166509" cy="37854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85750" indent="-285750"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" pitchFamily="2" charset="2"/>
              <a:buChar char="Ø"/>
            </a:pPr>
            <a:r>
              <a:rPr lang="en-US" cap="small" dirty="0">
                <a:solidFill>
                  <a:srgbClr val="EBEBEB"/>
                </a:soli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j-lt"/>
                <a:ea typeface="+mj-ea"/>
                <a:cs typeface="+mj-cs"/>
              </a:rPr>
              <a:t>Note: The table shows representative columns by data area. </a:t>
            </a:r>
          </a:p>
          <a:p>
            <a:pPr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</a:pPr>
            <a:endParaRPr lang="en-US" cap="small" dirty="0">
              <a:solidFill>
                <a:srgbClr val="EBEBEB"/>
              </a:solidFill>
              <a:effectLst>
                <a:glow rad="38100">
                  <a:schemeClr val="bg1">
                    <a:lumMod val="50000"/>
                    <a:lumOff val="50000"/>
                    <a:alpha val="20000"/>
                  </a:schemeClr>
                </a:glow>
                <a:outerShdw blurRad="44450" dist="12700" dir="13860000" algn="tl" rotWithShape="0">
                  <a:srgbClr val="000000">
                    <a:alpha val="20000"/>
                  </a:srgbClr>
                </a:outerShdw>
              </a:effectLst>
              <a:latin typeface="+mj-lt"/>
              <a:ea typeface="+mj-ea"/>
              <a:cs typeface="+mj-cs"/>
            </a:endParaRPr>
          </a:p>
          <a:p>
            <a:pPr marL="285750" indent="-285750"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" pitchFamily="2" charset="2"/>
              <a:buChar char="Ø"/>
            </a:pPr>
            <a:r>
              <a:rPr lang="en-US" cap="small" dirty="0">
                <a:solidFill>
                  <a:srgbClr val="EBEBEB"/>
                </a:soli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j-lt"/>
                <a:ea typeface="+mj-ea"/>
                <a:cs typeface="+mj-cs"/>
              </a:rPr>
              <a:t> All 61 source columns are preserved in the staging dataset and mapped to normalized tables.</a:t>
            </a:r>
          </a:p>
        </p:txBody>
      </p:sp>
      <p:graphicFrame>
        <p:nvGraphicFramePr>
          <p:cNvPr id="37" name="Content Placeholder 3">
            <a:extLst>
              <a:ext uri="{FF2B5EF4-FFF2-40B4-BE49-F238E27FC236}">
                <a16:creationId xmlns:a16="http://schemas.microsoft.com/office/drawing/2014/main" id="{FEBDC430-F9D0-B59E-449A-7DD58313740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39252280"/>
              </p:ext>
            </p:extLst>
          </p:nvPr>
        </p:nvGraphicFramePr>
        <p:xfrm>
          <a:off x="6093992" y="1191912"/>
          <a:ext cx="5449891" cy="4474179"/>
        </p:xfrm>
        <a:graphic>
          <a:graphicData uri="http://schemas.openxmlformats.org/drawingml/2006/table">
            <a:tbl>
              <a:tblPr firstRow="1" bandRow="1">
                <a:solidFill>
                  <a:schemeClr val="bg1"/>
                </a:solidFill>
              </a:tblPr>
              <a:tblGrid>
                <a:gridCol w="1267424">
                  <a:extLst>
                    <a:ext uri="{9D8B030D-6E8A-4147-A177-3AD203B41FA5}">
                      <a16:colId xmlns:a16="http://schemas.microsoft.com/office/drawing/2014/main" val="903068984"/>
                    </a:ext>
                  </a:extLst>
                </a:gridCol>
                <a:gridCol w="2361803">
                  <a:extLst>
                    <a:ext uri="{9D8B030D-6E8A-4147-A177-3AD203B41FA5}">
                      <a16:colId xmlns:a16="http://schemas.microsoft.com/office/drawing/2014/main" val="2686198464"/>
                    </a:ext>
                  </a:extLst>
                </a:gridCol>
                <a:gridCol w="1820664">
                  <a:extLst>
                    <a:ext uri="{9D8B030D-6E8A-4147-A177-3AD203B41FA5}">
                      <a16:colId xmlns:a16="http://schemas.microsoft.com/office/drawing/2014/main" val="1902139669"/>
                    </a:ext>
                  </a:extLst>
                </a:gridCol>
              </a:tblGrid>
              <a:tr h="33820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Data area</a:t>
                      </a:r>
                    </a:p>
                  </a:txBody>
                  <a:tcPr marL="86057" marR="46829" marT="66198" marB="66198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Examples</a:t>
                      </a:r>
                    </a:p>
                  </a:txBody>
                  <a:tcPr marL="86057" marR="46829" marT="66198" marB="66198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Purpose</a:t>
                      </a:r>
                    </a:p>
                  </a:txBody>
                  <a:tcPr marL="86057" marR="46829" marT="66198" marB="66198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46046469"/>
                  </a:ext>
                </a:extLst>
              </a:tr>
              <a:tr h="70466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b="1"/>
                        <a:t>Date</a:t>
                      </a:r>
                      <a:endParaRPr lang="en-US" sz="1300"/>
                    </a:p>
                  </a:txBody>
                  <a:tcPr marL="67332" marR="67332" marT="33665" marB="33665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>
                          <a:latin typeface="Courier New" panose="02070309020205020404" pitchFamily="49" charset="0"/>
                        </a:rPr>
                        <a:t>FL_DATE</a:t>
                      </a:r>
                      <a:r>
                        <a:rPr lang="en-US" sz="1300"/>
                        <a:t>, </a:t>
                      </a:r>
                      <a:r>
                        <a:rPr lang="en-US" sz="1300">
                          <a:latin typeface="Courier New" panose="02070309020205020404" pitchFamily="49" charset="0"/>
                        </a:rPr>
                        <a:t>YEAR</a:t>
                      </a:r>
                      <a:r>
                        <a:rPr lang="en-US" sz="1300"/>
                        <a:t>, </a:t>
                      </a:r>
                      <a:r>
                        <a:rPr lang="en-US" sz="1300">
                          <a:latin typeface="Courier New" panose="02070309020205020404" pitchFamily="49" charset="0"/>
                        </a:rPr>
                        <a:t>QUARTER</a:t>
                      </a:r>
                      <a:r>
                        <a:rPr lang="en-US" sz="1300"/>
                        <a:t>, </a:t>
                      </a:r>
                      <a:r>
                        <a:rPr lang="en-US" sz="1300">
                          <a:latin typeface="Courier New" panose="02070309020205020404" pitchFamily="49" charset="0"/>
                        </a:rPr>
                        <a:t>MONTH</a:t>
                      </a:r>
                      <a:r>
                        <a:rPr lang="en-US" sz="1300"/>
                        <a:t>, </a:t>
                      </a:r>
                      <a:r>
                        <a:rPr lang="en-US" sz="1300">
                          <a:latin typeface="Courier New" panose="02070309020205020404" pitchFamily="49" charset="0"/>
                        </a:rPr>
                        <a:t>DAY_OF_MONTH</a:t>
                      </a:r>
                      <a:r>
                        <a:rPr lang="en-US" sz="1300"/>
                        <a:t>, </a:t>
                      </a:r>
                      <a:r>
                        <a:rPr lang="en-US" sz="1300">
                          <a:latin typeface="Courier New" panose="02070309020205020404" pitchFamily="49" charset="0"/>
                        </a:rPr>
                        <a:t>DAY_OF_WEEK</a:t>
                      </a:r>
                      <a:endParaRPr lang="en-US" sz="1300"/>
                    </a:p>
                  </a:txBody>
                  <a:tcPr marL="67332" marR="67332" marT="33665" marB="33665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Monthly and date analysis</a:t>
                      </a:r>
                    </a:p>
                  </a:txBody>
                  <a:tcPr marL="67332" marR="67332" marT="33665" marB="33665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37118650"/>
                  </a:ext>
                </a:extLst>
              </a:tr>
              <a:tr h="5054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b="1"/>
                        <a:t>Airline</a:t>
                      </a:r>
                      <a:endParaRPr lang="en-US" sz="1300"/>
                    </a:p>
                  </a:txBody>
                  <a:tcPr marL="67332" marR="67332" marT="33665" marB="33665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>
                          <a:latin typeface="Courier New" panose="02070309020205020404" pitchFamily="49" charset="0"/>
                        </a:rPr>
                        <a:t>OP_UNIQUE_CARRIER</a:t>
                      </a:r>
                      <a:r>
                        <a:rPr lang="en-US" sz="1300"/>
                        <a:t>, </a:t>
                      </a:r>
                      <a:r>
                        <a:rPr lang="en-US" sz="1300">
                          <a:latin typeface="Courier New" panose="02070309020205020404" pitchFamily="49" charset="0"/>
                        </a:rPr>
                        <a:t>OP_CARRIER_AIRLINE_ID</a:t>
                      </a:r>
                      <a:endParaRPr lang="en-US" sz="1300"/>
                    </a:p>
                  </a:txBody>
                  <a:tcPr marL="67332" marR="67332" marT="33665" marB="33665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Airline comparisons</a:t>
                      </a:r>
                    </a:p>
                  </a:txBody>
                  <a:tcPr marL="67332" marR="67332" marT="33665" marB="33665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73473858"/>
                  </a:ext>
                </a:extLst>
              </a:tr>
              <a:tr h="5054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b="1"/>
                        <a:t>Airport</a:t>
                      </a:r>
                      <a:endParaRPr lang="en-US" sz="1300"/>
                    </a:p>
                  </a:txBody>
                  <a:tcPr marL="67332" marR="67332" marT="33665" marB="33665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>
                          <a:latin typeface="Courier New" panose="02070309020205020404" pitchFamily="49" charset="0"/>
                        </a:rPr>
                        <a:t>ORIGIN</a:t>
                      </a:r>
                      <a:r>
                        <a:rPr lang="en-US" sz="1300"/>
                        <a:t>, </a:t>
                      </a:r>
                      <a:r>
                        <a:rPr lang="en-US" sz="1300">
                          <a:latin typeface="Courier New" panose="02070309020205020404" pitchFamily="49" charset="0"/>
                        </a:rPr>
                        <a:t>DEST</a:t>
                      </a:r>
                      <a:r>
                        <a:rPr lang="en-US" sz="1300"/>
                        <a:t>, airport IDs, cities, states</a:t>
                      </a:r>
                    </a:p>
                  </a:txBody>
                  <a:tcPr marL="67332" marR="67332" marT="33665" marB="33665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Airport and route analysis</a:t>
                      </a:r>
                    </a:p>
                  </a:txBody>
                  <a:tcPr marL="67332" marR="67332" marT="33665" marB="33665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6613056"/>
                  </a:ext>
                </a:extLst>
              </a:tr>
              <a:tr h="5054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b="1"/>
                        <a:t>Route</a:t>
                      </a:r>
                      <a:endParaRPr lang="en-US" sz="1300"/>
                    </a:p>
                  </a:txBody>
                  <a:tcPr marL="67332" marR="67332" marT="33665" marB="33665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Origin airport, destination airport, </a:t>
                      </a:r>
                      <a:r>
                        <a:rPr lang="en-US" sz="1300">
                          <a:latin typeface="Courier New" panose="02070309020205020404" pitchFamily="49" charset="0"/>
                        </a:rPr>
                        <a:t>DISTANCE</a:t>
                      </a:r>
                      <a:endParaRPr lang="en-US" sz="1300"/>
                    </a:p>
                  </a:txBody>
                  <a:tcPr marL="67332" marR="67332" marT="33665" marB="33665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Route-distance analysis</a:t>
                      </a:r>
                    </a:p>
                  </a:txBody>
                  <a:tcPr marL="67332" marR="67332" marT="33665" marB="33665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6405142"/>
                  </a:ext>
                </a:extLst>
              </a:tr>
              <a:tr h="5054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b="1"/>
                        <a:t>Flight</a:t>
                      </a:r>
                      <a:endParaRPr lang="en-US" sz="1300"/>
                    </a:p>
                  </a:txBody>
                  <a:tcPr marL="67332" marR="67332" marT="33665" marB="33665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Generated </a:t>
                      </a:r>
                      <a:r>
                        <a:rPr lang="en-US" sz="1300">
                          <a:latin typeface="Courier New" panose="02070309020205020404" pitchFamily="49" charset="0"/>
                        </a:rPr>
                        <a:t>FlightID</a:t>
                      </a:r>
                      <a:r>
                        <a:rPr lang="en-US" sz="1300"/>
                        <a:t>, flight number, tail number</a:t>
                      </a:r>
                    </a:p>
                  </a:txBody>
                  <a:tcPr marL="67332" marR="67332" marT="33665" marB="33665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Flight identification</a:t>
                      </a:r>
                    </a:p>
                  </a:txBody>
                  <a:tcPr marL="67332" marR="67332" marT="33665" marB="33665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8787630"/>
                  </a:ext>
                </a:extLst>
              </a:tr>
              <a:tr h="70466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b="1"/>
                        <a:t>Performance</a:t>
                      </a:r>
                      <a:endParaRPr lang="en-US" sz="1300"/>
                    </a:p>
                  </a:txBody>
                  <a:tcPr marL="67332" marR="67332" marT="33665" marB="33665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Scheduled/actual times, delays, taxi times, elapsed times</a:t>
                      </a:r>
                    </a:p>
                  </a:txBody>
                  <a:tcPr marL="67332" marR="67332" marT="33665" marB="33665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On-time performance</a:t>
                      </a:r>
                    </a:p>
                  </a:txBody>
                  <a:tcPr marL="67332" marR="67332" marT="33665" marB="33665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1409317"/>
                  </a:ext>
                </a:extLst>
              </a:tr>
              <a:tr h="70466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b="1"/>
                        <a:t>Status</a:t>
                      </a:r>
                      <a:endParaRPr lang="en-US" sz="1300"/>
                    </a:p>
                  </a:txBody>
                  <a:tcPr marL="67332" marR="67332" marT="33665" marB="33665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>
                          <a:latin typeface="Courier New" panose="02070309020205020404" pitchFamily="49" charset="0"/>
                        </a:rPr>
                        <a:t>CANCELLED</a:t>
                      </a:r>
                      <a:r>
                        <a:rPr lang="en-US" sz="1300"/>
                        <a:t>, </a:t>
                      </a:r>
                      <a:r>
                        <a:rPr lang="en-US" sz="1300">
                          <a:latin typeface="Courier New" panose="02070309020205020404" pitchFamily="49" charset="0"/>
                        </a:rPr>
                        <a:t>CANCELLATION_CODE</a:t>
                      </a:r>
                      <a:r>
                        <a:rPr lang="en-US" sz="1300"/>
                        <a:t>, </a:t>
                      </a:r>
                      <a:r>
                        <a:rPr lang="en-US" sz="1300">
                          <a:latin typeface="Courier New" panose="02070309020205020404" pitchFamily="49" charset="0"/>
                        </a:rPr>
                        <a:t>DIVERTED</a:t>
                      </a:r>
                      <a:endParaRPr lang="en-US" sz="1300"/>
                    </a:p>
                  </a:txBody>
                  <a:tcPr marL="67332" marR="67332" marT="33665" marB="33665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Cancellation and diversion analysis</a:t>
                      </a:r>
                    </a:p>
                  </a:txBody>
                  <a:tcPr marL="67332" marR="67332" marT="33665" marB="33665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381774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545980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04A3DA6D-FED2-4369-9ACD-B578C8790D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63C72DE-4C01-4F6C-9020-327690ADA8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4244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2" name="Freeform 7">
            <a:extLst>
              <a:ext uri="{FF2B5EF4-FFF2-40B4-BE49-F238E27FC236}">
                <a16:creationId xmlns:a16="http://schemas.microsoft.com/office/drawing/2014/main" id="{5627181E-8B3E-4EFB-8F43-17296B86C0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19939" y="1460230"/>
            <a:ext cx="3472060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CD0B3C4-077B-05A9-016A-EB52C26AE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30" y="629267"/>
            <a:ext cx="9252154" cy="1016654"/>
          </a:xfrm>
        </p:spPr>
        <p:txBody>
          <a:bodyPr>
            <a:normAutofit/>
          </a:bodyPr>
          <a:lstStyle/>
          <a:p>
            <a:r>
              <a:rPr lang="en-US" sz="3200" dirty="0">
                <a:solidFill>
                  <a:srgbClr val="EBEBEB"/>
                </a:solidFill>
              </a:rPr>
              <a:t>Schema Design &amp; Database Setup</a:t>
            </a:r>
          </a:p>
        </p:txBody>
      </p:sp>
      <p:sp useBgFill="1">
        <p:nvSpPr>
          <p:cNvPr id="23" name="Freeform: Shape 17">
            <a:extLst>
              <a:ext uri="{FF2B5EF4-FFF2-40B4-BE49-F238E27FC236}">
                <a16:creationId xmlns:a16="http://schemas.microsoft.com/office/drawing/2014/main" id="{2E45DBDE-EAD7-4DEE-B77D-577BBB0A13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1" y="1762067"/>
            <a:ext cx="12192417" cy="5095933"/>
          </a:xfrm>
          <a:custGeom>
            <a:avLst/>
            <a:gdLst>
              <a:gd name="connsiteX0" fmla="*/ 0 w 12192417"/>
              <a:gd name="connsiteY0" fmla="*/ 0 h 5095933"/>
              <a:gd name="connsiteX1" fmla="*/ 71931 w 12192417"/>
              <a:gd name="connsiteY1" fmla="*/ 12261 h 5095933"/>
              <a:gd name="connsiteX2" fmla="*/ 282848 w 12192417"/>
              <a:gd name="connsiteY2" fmla="*/ 48343 h 5095933"/>
              <a:gd name="connsiteX3" fmla="*/ 436463 w 12192417"/>
              <a:gd name="connsiteY3" fmla="*/ 73565 h 5095933"/>
              <a:gd name="connsiteX4" fmla="*/ 619338 w 12192417"/>
              <a:gd name="connsiteY4" fmla="*/ 100188 h 5095933"/>
              <a:gd name="connsiteX5" fmla="*/ 836350 w 12192417"/>
              <a:gd name="connsiteY5" fmla="*/ 132066 h 5095933"/>
              <a:gd name="connsiteX6" fmla="*/ 1076527 w 12192417"/>
              <a:gd name="connsiteY6" fmla="*/ 165696 h 5095933"/>
              <a:gd name="connsiteX7" fmla="*/ 1347183 w 12192417"/>
              <a:gd name="connsiteY7" fmla="*/ 201077 h 5095933"/>
              <a:gd name="connsiteX8" fmla="*/ 1642222 w 12192417"/>
              <a:gd name="connsiteY8" fmla="*/ 238560 h 5095933"/>
              <a:gd name="connsiteX9" fmla="*/ 1962863 w 12192417"/>
              <a:gd name="connsiteY9" fmla="*/ 276043 h 5095933"/>
              <a:gd name="connsiteX10" fmla="*/ 2304231 w 12192417"/>
              <a:gd name="connsiteY10" fmla="*/ 314227 h 5095933"/>
              <a:gd name="connsiteX11" fmla="*/ 2672420 w 12192417"/>
              <a:gd name="connsiteY11" fmla="*/ 349608 h 5095933"/>
              <a:gd name="connsiteX12" fmla="*/ 3057677 w 12192417"/>
              <a:gd name="connsiteY12" fmla="*/ 383588 h 5095933"/>
              <a:gd name="connsiteX13" fmla="*/ 3464880 w 12192417"/>
              <a:gd name="connsiteY13" fmla="*/ 414415 h 5095933"/>
              <a:gd name="connsiteX14" fmla="*/ 3889151 w 12192417"/>
              <a:gd name="connsiteY14" fmla="*/ 443841 h 5095933"/>
              <a:gd name="connsiteX15" fmla="*/ 4331709 w 12192417"/>
              <a:gd name="connsiteY15" fmla="*/ 471515 h 5095933"/>
              <a:gd name="connsiteX16" fmla="*/ 4558475 w 12192417"/>
              <a:gd name="connsiteY16" fmla="*/ 481324 h 5095933"/>
              <a:gd name="connsiteX17" fmla="*/ 4790117 w 12192417"/>
              <a:gd name="connsiteY17" fmla="*/ 492183 h 5095933"/>
              <a:gd name="connsiteX18" fmla="*/ 5025417 w 12192417"/>
              <a:gd name="connsiteY18" fmla="*/ 502342 h 5095933"/>
              <a:gd name="connsiteX19" fmla="*/ 5261936 w 12192417"/>
              <a:gd name="connsiteY19" fmla="*/ 508998 h 5095933"/>
              <a:gd name="connsiteX20" fmla="*/ 5503331 w 12192417"/>
              <a:gd name="connsiteY20" fmla="*/ 514953 h 5095933"/>
              <a:gd name="connsiteX21" fmla="*/ 5747166 w 12192417"/>
              <a:gd name="connsiteY21" fmla="*/ 521259 h 5095933"/>
              <a:gd name="connsiteX22" fmla="*/ 5995876 w 12192417"/>
              <a:gd name="connsiteY22" fmla="*/ 525463 h 5095933"/>
              <a:gd name="connsiteX23" fmla="*/ 6247025 w 12192417"/>
              <a:gd name="connsiteY23" fmla="*/ 525463 h 5095933"/>
              <a:gd name="connsiteX24" fmla="*/ 6500612 w 12192417"/>
              <a:gd name="connsiteY24" fmla="*/ 527565 h 5095933"/>
              <a:gd name="connsiteX25" fmla="*/ 6756638 w 12192417"/>
              <a:gd name="connsiteY25" fmla="*/ 525463 h 5095933"/>
              <a:gd name="connsiteX26" fmla="*/ 7016321 w 12192417"/>
              <a:gd name="connsiteY26" fmla="*/ 521259 h 5095933"/>
              <a:gd name="connsiteX27" fmla="*/ 7276004 w 12192417"/>
              <a:gd name="connsiteY27" fmla="*/ 517406 h 5095933"/>
              <a:gd name="connsiteX28" fmla="*/ 7539344 w 12192417"/>
              <a:gd name="connsiteY28" fmla="*/ 508998 h 5095933"/>
              <a:gd name="connsiteX29" fmla="*/ 7805123 w 12192417"/>
              <a:gd name="connsiteY29" fmla="*/ 500241 h 5095933"/>
              <a:gd name="connsiteX30" fmla="*/ 8070902 w 12192417"/>
              <a:gd name="connsiteY30" fmla="*/ 490082 h 5095933"/>
              <a:gd name="connsiteX31" fmla="*/ 8339120 w 12192417"/>
              <a:gd name="connsiteY31" fmla="*/ 475719 h 5095933"/>
              <a:gd name="connsiteX32" fmla="*/ 8609775 w 12192417"/>
              <a:gd name="connsiteY32" fmla="*/ 458554 h 5095933"/>
              <a:gd name="connsiteX33" fmla="*/ 8881650 w 12192417"/>
              <a:gd name="connsiteY33" fmla="*/ 442089 h 5095933"/>
              <a:gd name="connsiteX34" fmla="*/ 9153525 w 12192417"/>
              <a:gd name="connsiteY34" fmla="*/ 421071 h 5095933"/>
              <a:gd name="connsiteX35" fmla="*/ 9429057 w 12192417"/>
              <a:gd name="connsiteY35" fmla="*/ 395849 h 5095933"/>
              <a:gd name="connsiteX36" fmla="*/ 9700932 w 12192417"/>
              <a:gd name="connsiteY36" fmla="*/ 370626 h 5095933"/>
              <a:gd name="connsiteX37" fmla="*/ 9977683 w 12192417"/>
              <a:gd name="connsiteY37" fmla="*/ 341551 h 5095933"/>
              <a:gd name="connsiteX38" fmla="*/ 10255654 w 12192417"/>
              <a:gd name="connsiteY38" fmla="*/ 309673 h 5095933"/>
              <a:gd name="connsiteX39" fmla="*/ 10529967 w 12192417"/>
              <a:gd name="connsiteY39" fmla="*/ 276043 h 5095933"/>
              <a:gd name="connsiteX40" fmla="*/ 10807938 w 12192417"/>
              <a:gd name="connsiteY40" fmla="*/ 236809 h 5095933"/>
              <a:gd name="connsiteX41" fmla="*/ 11084689 w 12192417"/>
              <a:gd name="connsiteY41" fmla="*/ 194772 h 5095933"/>
              <a:gd name="connsiteX42" fmla="*/ 11362660 w 12192417"/>
              <a:gd name="connsiteY42" fmla="*/ 153085 h 5095933"/>
              <a:gd name="connsiteX43" fmla="*/ 11639411 w 12192417"/>
              <a:gd name="connsiteY43" fmla="*/ 104392 h 5095933"/>
              <a:gd name="connsiteX44" fmla="*/ 11914944 w 12192417"/>
              <a:gd name="connsiteY44" fmla="*/ 54648 h 5095933"/>
              <a:gd name="connsiteX45" fmla="*/ 12191695 w 12192417"/>
              <a:gd name="connsiteY45" fmla="*/ 2452 h 5095933"/>
              <a:gd name="connsiteX46" fmla="*/ 12191695 w 12192417"/>
              <a:gd name="connsiteY46" fmla="*/ 2162231 h 5095933"/>
              <a:gd name="connsiteX47" fmla="*/ 12192417 w 12192417"/>
              <a:gd name="connsiteY47" fmla="*/ 2162231 h 5095933"/>
              <a:gd name="connsiteX48" fmla="*/ 12192417 w 12192417"/>
              <a:gd name="connsiteY48" fmla="*/ 5095933 h 5095933"/>
              <a:gd name="connsiteX49" fmla="*/ 0 w 12192417"/>
              <a:gd name="connsiteY49" fmla="*/ 5095933 h 5095933"/>
              <a:gd name="connsiteX50" fmla="*/ 0 w 12192417"/>
              <a:gd name="connsiteY50" fmla="*/ 2791958 h 5095933"/>
              <a:gd name="connsiteX51" fmla="*/ 0 w 12192417"/>
              <a:gd name="connsiteY51" fmla="*/ 2162231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12192417" h="5095933">
                <a:moveTo>
                  <a:pt x="0" y="0"/>
                </a:moveTo>
                <a:lnTo>
                  <a:pt x="71931" y="12261"/>
                </a:lnTo>
                <a:lnTo>
                  <a:pt x="282848" y="48343"/>
                </a:lnTo>
                <a:lnTo>
                  <a:pt x="436463" y="73565"/>
                </a:lnTo>
                <a:lnTo>
                  <a:pt x="619338" y="100188"/>
                </a:lnTo>
                <a:lnTo>
                  <a:pt x="836350" y="132066"/>
                </a:lnTo>
                <a:lnTo>
                  <a:pt x="1076527" y="165696"/>
                </a:lnTo>
                <a:lnTo>
                  <a:pt x="1347183" y="201077"/>
                </a:lnTo>
                <a:lnTo>
                  <a:pt x="1642222" y="238560"/>
                </a:lnTo>
                <a:lnTo>
                  <a:pt x="1962863" y="276043"/>
                </a:lnTo>
                <a:lnTo>
                  <a:pt x="2304231" y="314227"/>
                </a:lnTo>
                <a:lnTo>
                  <a:pt x="2672420" y="349608"/>
                </a:lnTo>
                <a:lnTo>
                  <a:pt x="3057677" y="383588"/>
                </a:lnTo>
                <a:lnTo>
                  <a:pt x="3464880" y="414415"/>
                </a:lnTo>
                <a:lnTo>
                  <a:pt x="3889151" y="443841"/>
                </a:lnTo>
                <a:lnTo>
                  <a:pt x="4331709" y="471515"/>
                </a:lnTo>
                <a:lnTo>
                  <a:pt x="4558475" y="481324"/>
                </a:lnTo>
                <a:lnTo>
                  <a:pt x="4790117" y="492183"/>
                </a:lnTo>
                <a:lnTo>
                  <a:pt x="5025417" y="502342"/>
                </a:lnTo>
                <a:lnTo>
                  <a:pt x="5261936" y="508998"/>
                </a:lnTo>
                <a:lnTo>
                  <a:pt x="5503331" y="514953"/>
                </a:lnTo>
                <a:lnTo>
                  <a:pt x="5747166" y="521259"/>
                </a:lnTo>
                <a:lnTo>
                  <a:pt x="5995876" y="525463"/>
                </a:lnTo>
                <a:lnTo>
                  <a:pt x="6247025" y="525463"/>
                </a:lnTo>
                <a:lnTo>
                  <a:pt x="6500612" y="527565"/>
                </a:lnTo>
                <a:lnTo>
                  <a:pt x="6756638" y="525463"/>
                </a:lnTo>
                <a:lnTo>
                  <a:pt x="7016321" y="521259"/>
                </a:lnTo>
                <a:lnTo>
                  <a:pt x="7276004" y="517406"/>
                </a:lnTo>
                <a:lnTo>
                  <a:pt x="7539344" y="508998"/>
                </a:lnTo>
                <a:lnTo>
                  <a:pt x="7805123" y="500241"/>
                </a:lnTo>
                <a:lnTo>
                  <a:pt x="8070902" y="490082"/>
                </a:lnTo>
                <a:lnTo>
                  <a:pt x="8339120" y="475719"/>
                </a:lnTo>
                <a:lnTo>
                  <a:pt x="8609775" y="458554"/>
                </a:lnTo>
                <a:lnTo>
                  <a:pt x="8881650" y="442089"/>
                </a:lnTo>
                <a:lnTo>
                  <a:pt x="9153525" y="421071"/>
                </a:lnTo>
                <a:lnTo>
                  <a:pt x="9429057" y="395849"/>
                </a:lnTo>
                <a:lnTo>
                  <a:pt x="9700932" y="370626"/>
                </a:lnTo>
                <a:lnTo>
                  <a:pt x="9977683" y="341551"/>
                </a:lnTo>
                <a:lnTo>
                  <a:pt x="10255654" y="309673"/>
                </a:lnTo>
                <a:lnTo>
                  <a:pt x="10529967" y="276043"/>
                </a:lnTo>
                <a:lnTo>
                  <a:pt x="10807938" y="236809"/>
                </a:lnTo>
                <a:lnTo>
                  <a:pt x="11084689" y="194772"/>
                </a:lnTo>
                <a:lnTo>
                  <a:pt x="11362660" y="153085"/>
                </a:lnTo>
                <a:lnTo>
                  <a:pt x="11639411" y="104392"/>
                </a:lnTo>
                <a:lnTo>
                  <a:pt x="11914944" y="54648"/>
                </a:lnTo>
                <a:lnTo>
                  <a:pt x="12191695" y="2452"/>
                </a:lnTo>
                <a:lnTo>
                  <a:pt x="12191695" y="2162231"/>
                </a:lnTo>
                <a:lnTo>
                  <a:pt x="12192417" y="2162231"/>
                </a:lnTo>
                <a:lnTo>
                  <a:pt x="12192417" y="5095933"/>
                </a:lnTo>
                <a:lnTo>
                  <a:pt x="0" y="5095933"/>
                </a:lnTo>
                <a:lnTo>
                  <a:pt x="0" y="2791958"/>
                </a:lnTo>
                <a:lnTo>
                  <a:pt x="0" y="2162231"/>
                </a:lnTo>
                <a:close/>
              </a:path>
            </a:pathLst>
          </a:custGeom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B51D99-E9FD-1485-742C-5EDA124200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8931" y="2548281"/>
            <a:ext cx="6578592" cy="3658689"/>
          </a:xfrm>
        </p:spPr>
        <p:txBody>
          <a:bodyPr>
            <a:norm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US" sz="1800" dirty="0"/>
              <a:t>From raw flight records to a normalized relational database</a:t>
            </a:r>
          </a:p>
          <a:p>
            <a:pPr>
              <a:lnSpc>
                <a:spcPct val="90000"/>
              </a:lnSpc>
              <a:buClr>
                <a:schemeClr val="tx1"/>
              </a:buClr>
              <a:buFont typeface="Wingdings" pitchFamily="2" charset="2"/>
              <a:buChar char="Ø"/>
            </a:pPr>
            <a:r>
              <a:rPr lang="en-US" sz="1800" dirty="0"/>
              <a:t>ER model and relationship design</a:t>
            </a:r>
          </a:p>
          <a:p>
            <a:pPr>
              <a:lnSpc>
                <a:spcPct val="90000"/>
              </a:lnSpc>
              <a:buClr>
                <a:schemeClr val="tx1"/>
              </a:buClr>
              <a:buFont typeface="Wingdings" pitchFamily="2" charset="2"/>
              <a:buChar char="Ø"/>
            </a:pPr>
            <a:r>
              <a:rPr lang="en-US" sz="1800" dirty="0"/>
              <a:t>Relational schema mapping and key structure</a:t>
            </a:r>
          </a:p>
          <a:p>
            <a:pPr>
              <a:lnSpc>
                <a:spcPct val="90000"/>
              </a:lnSpc>
              <a:buClr>
                <a:schemeClr val="tx1"/>
              </a:buClr>
              <a:buFont typeface="Wingdings" pitchFamily="2" charset="2"/>
              <a:buChar char="Ø"/>
            </a:pPr>
            <a:r>
              <a:rPr lang="en-US" sz="1800" dirty="0"/>
              <a:t>Normalization up to 3NF</a:t>
            </a:r>
          </a:p>
          <a:p>
            <a:pPr>
              <a:lnSpc>
                <a:spcPct val="90000"/>
              </a:lnSpc>
              <a:buClr>
                <a:schemeClr val="tx1"/>
              </a:buClr>
              <a:buFont typeface="Wingdings" pitchFamily="2" charset="2"/>
              <a:buChar char="Ø"/>
            </a:pPr>
            <a:r>
              <a:rPr lang="en-US" sz="1800" dirty="0"/>
              <a:t>MySQL staging import and validation</a:t>
            </a:r>
          </a:p>
          <a:p>
            <a:pPr marL="0" indent="0">
              <a:lnSpc>
                <a:spcPct val="90000"/>
              </a:lnSpc>
              <a:buNone/>
            </a:pPr>
            <a:endParaRPr lang="en-US" sz="1800" dirty="0"/>
          </a:p>
          <a:p>
            <a:pPr marL="0" indent="0">
              <a:lnSpc>
                <a:spcPct val="90000"/>
              </a:lnSpc>
              <a:buNone/>
            </a:pPr>
            <a:r>
              <a:rPr lang="en-US" sz="1800" dirty="0"/>
              <a:t>Current-status: Six monthly files imported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800" dirty="0"/>
              <a:t>Staging records: 3.4+Million records</a:t>
            </a:r>
          </a:p>
          <a:p>
            <a:pPr marL="0" indent="0">
              <a:lnSpc>
                <a:spcPct val="90000"/>
              </a:lnSpc>
              <a:buNone/>
            </a:pPr>
            <a:endParaRPr lang="en-US" dirty="0"/>
          </a:p>
          <a:p>
            <a:pPr marL="0" indent="0">
              <a:lnSpc>
                <a:spcPct val="90000"/>
              </a:lnSpc>
              <a:buNone/>
            </a:pPr>
            <a:endParaRPr lang="en-US" dirty="0"/>
          </a:p>
          <a:p>
            <a:pPr marL="0" indent="0">
              <a:lnSpc>
                <a:spcPct val="90000"/>
              </a:lnSpc>
              <a:buNone/>
            </a:pPr>
            <a:endParaRPr lang="en-US" dirty="0"/>
          </a:p>
        </p:txBody>
      </p:sp>
      <p:pic>
        <p:nvPicPr>
          <p:cNvPr id="7" name="Graphic 6" descr="Database">
            <a:extLst>
              <a:ext uri="{FF2B5EF4-FFF2-40B4-BE49-F238E27FC236}">
                <a16:creationId xmlns:a16="http://schemas.microsoft.com/office/drawing/2014/main" id="{DA193809-4E78-72CF-F20B-934348BE45F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716223" y="2548281"/>
            <a:ext cx="3662018" cy="3662018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248208756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295D47-2C30-6002-5F87-77CD930C71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7333" y="585355"/>
            <a:ext cx="9905998" cy="1905000"/>
          </a:xfrm>
        </p:spPr>
        <p:txBody>
          <a:bodyPr/>
          <a:lstStyle/>
          <a:p>
            <a:r>
              <a:rPr lang="en-US" sz="3200" dirty="0"/>
              <a:t>Initial ER Diagram : </a:t>
            </a:r>
          </a:p>
        </p:txBody>
      </p:sp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9860B88F-C3CC-FB5B-F501-ECCBC23A7A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7333" y="1537855"/>
            <a:ext cx="9905998" cy="3124201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The ER model separates :</a:t>
            </a:r>
          </a:p>
          <a:p>
            <a:pPr>
              <a:buFont typeface="Wingdings" pitchFamily="2" charset="2"/>
              <a:buChar char="Ø"/>
            </a:pPr>
            <a:r>
              <a:rPr lang="en-US" dirty="0"/>
              <a:t>Flight operations</a:t>
            </a:r>
          </a:p>
          <a:p>
            <a:pPr>
              <a:buFont typeface="Wingdings" pitchFamily="2" charset="2"/>
              <a:buChar char="Ø"/>
            </a:pPr>
            <a:r>
              <a:rPr lang="en-US" dirty="0"/>
              <a:t>Airlines, airports, and routes</a:t>
            </a:r>
          </a:p>
          <a:p>
            <a:pPr>
              <a:buFont typeface="Wingdings" pitchFamily="2" charset="2"/>
              <a:buChar char="Ø"/>
            </a:pPr>
            <a:r>
              <a:rPr lang="en-US" dirty="0"/>
              <a:t>Dates and performance measures</a:t>
            </a:r>
          </a:p>
          <a:p>
            <a:pPr>
              <a:buFont typeface="Wingdings" pitchFamily="2" charset="2"/>
              <a:buChar char="Ø"/>
            </a:pPr>
            <a:r>
              <a:rPr lang="en-US" dirty="0"/>
              <a:t>Delays, cancellations, and diversions</a:t>
            </a:r>
          </a:p>
          <a:p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A2F3E62-F9F8-857D-846B-D02B510C0A27}"/>
              </a:ext>
            </a:extLst>
          </p:cNvPr>
          <p:cNvSpPr txBox="1"/>
          <p:nvPr/>
        </p:nvSpPr>
        <p:spPr>
          <a:xfrm>
            <a:off x="330199" y="3998314"/>
            <a:ext cx="89274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The model shows how these entities connect through relationship cardinalities.</a:t>
            </a:r>
          </a:p>
        </p:txBody>
      </p:sp>
    </p:spTree>
    <p:extLst>
      <p:ext uri="{BB962C8B-B14F-4D97-AF65-F5344CB8AC3E}">
        <p14:creationId xmlns:p14="http://schemas.microsoft.com/office/powerpoint/2010/main" val="35458482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6F7D70-7510-903D-591E-AC3F38D485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6178" y="100340"/>
            <a:ext cx="9905998" cy="1905000"/>
          </a:xfrm>
        </p:spPr>
        <p:txBody>
          <a:bodyPr/>
          <a:lstStyle/>
          <a:p>
            <a:r>
              <a:rPr lang="en-US" sz="3200" dirty="0"/>
              <a:t>Initial ER/EER Diagram: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FD6637F1-43EA-3CE3-053F-ABE2B1F4DF2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740979"/>
            <a:ext cx="12192000" cy="6117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27380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0B727-1D3E-62EA-81F3-C93D6C2D9E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247" y="394211"/>
            <a:ext cx="9905998" cy="1905000"/>
          </a:xfrm>
        </p:spPr>
        <p:txBody>
          <a:bodyPr/>
          <a:lstStyle/>
          <a:p>
            <a:r>
              <a:rPr lang="en-US" sz="3200" dirty="0"/>
              <a:t>Relational Schema Mapping:</a:t>
            </a:r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473E8D98-5A16-CBAD-CE0C-5D45D0AF05B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51233508"/>
              </p:ext>
            </p:extLst>
          </p:nvPr>
        </p:nvGraphicFramePr>
        <p:xfrm>
          <a:off x="-2516267" y="1352548"/>
          <a:ext cx="10858499" cy="415290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9F160A54-1D9E-1FDE-D945-29896454A007}"/>
              </a:ext>
            </a:extLst>
          </p:cNvPr>
          <p:cNvSpPr txBox="1"/>
          <p:nvPr/>
        </p:nvSpPr>
        <p:spPr>
          <a:xfrm>
            <a:off x="214311" y="6005140"/>
            <a:ext cx="1129451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The raw staging table will be transformed into these normalized tables.</a:t>
            </a:r>
          </a:p>
          <a:p>
            <a:r>
              <a:rPr lang="en-US" sz="1600" dirty="0"/>
              <a:t>Generated identifiers such as FLIGHT_ID and ROUTE_ID will be added during the relational mapping process.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0412C3E-2F15-C1EB-CC51-E08D74132301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r="9871"/>
          <a:stretch>
            <a:fillRect/>
          </a:stretch>
        </p:blipFill>
        <p:spPr>
          <a:xfrm>
            <a:off x="6096000" y="959267"/>
            <a:ext cx="5306017" cy="4939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60308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B4AAD3FD-83A5-4B89-9F8F-01B8870865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86B0DD-936C-88FD-6923-2FE847519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430" y="1143000"/>
            <a:ext cx="4649539" cy="1622321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200" b="0" i="0" kern="1200" dirty="0">
                <a:solidFill>
                  <a:srgbClr val="EBEBEB"/>
                </a:solidFill>
                <a:latin typeface="+mj-lt"/>
                <a:ea typeface="+mj-ea"/>
                <a:cs typeface="+mj-cs"/>
              </a:rPr>
              <a:t>Keys and Relationship Justification</a:t>
            </a:r>
          </a:p>
        </p:txBody>
      </p:sp>
      <p:sp>
        <p:nvSpPr>
          <p:cNvPr id="12" name="Freeform 31">
            <a:extLst>
              <a:ext uri="{FF2B5EF4-FFF2-40B4-BE49-F238E27FC236}">
                <a16:creationId xmlns:a16="http://schemas.microsoft.com/office/drawing/2014/main" id="{61752F1D-FC0F-4103-9584-630E643CCD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94020" y="-1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4" name="Freeform: Shape 13">
            <a:extLst>
              <a:ext uri="{FF2B5EF4-FFF2-40B4-BE49-F238E27FC236}">
                <a16:creationId xmlns:a16="http://schemas.microsoft.com/office/drawing/2014/main" id="{70151CB7-E7DE-4917-B831-01DF9CE013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6200000">
            <a:off x="5270819" y="-63600"/>
            <a:ext cx="6858001" cy="6985200"/>
          </a:xfrm>
          <a:custGeom>
            <a:avLst/>
            <a:gdLst>
              <a:gd name="connsiteX0" fmla="*/ 6858001 w 6858001"/>
              <a:gd name="connsiteY0" fmla="*/ 1177 h 6985200"/>
              <a:gd name="connsiteX1" fmla="*/ 6858001 w 6858001"/>
              <a:gd name="connsiteY1" fmla="*/ 1344715 h 6985200"/>
              <a:gd name="connsiteX2" fmla="*/ 6858000 w 6858001"/>
              <a:gd name="connsiteY2" fmla="*/ 1344715 h 6985200"/>
              <a:gd name="connsiteX3" fmla="*/ 6858000 w 6858001"/>
              <a:gd name="connsiteY3" fmla="*/ 6985200 h 6985200"/>
              <a:gd name="connsiteX4" fmla="*/ 0 w 6858001"/>
              <a:gd name="connsiteY4" fmla="*/ 6985199 h 6985200"/>
              <a:gd name="connsiteX5" fmla="*/ 0 w 6858001"/>
              <a:gd name="connsiteY5" fmla="*/ 886772 h 6985200"/>
              <a:gd name="connsiteX6" fmla="*/ 1 w 6858001"/>
              <a:gd name="connsiteY6" fmla="*/ 886772 h 6985200"/>
              <a:gd name="connsiteX7" fmla="*/ 1 w 6858001"/>
              <a:gd name="connsiteY7" fmla="*/ 0 h 6985200"/>
              <a:gd name="connsiteX8" fmla="*/ 40463 w 6858001"/>
              <a:gd name="connsiteY8" fmla="*/ 5883 h 6985200"/>
              <a:gd name="connsiteX9" fmla="*/ 159107 w 6858001"/>
              <a:gd name="connsiteY9" fmla="*/ 23196 h 6985200"/>
              <a:gd name="connsiteX10" fmla="*/ 245518 w 6858001"/>
              <a:gd name="connsiteY10" fmla="*/ 35299 h 6985200"/>
              <a:gd name="connsiteX11" fmla="*/ 348388 w 6858001"/>
              <a:gd name="connsiteY11" fmla="*/ 48073 h 6985200"/>
              <a:gd name="connsiteX12" fmla="*/ 470460 w 6858001"/>
              <a:gd name="connsiteY12" fmla="*/ 63369 h 6985200"/>
              <a:gd name="connsiteX13" fmla="*/ 605563 w 6858001"/>
              <a:gd name="connsiteY13" fmla="*/ 79506 h 6985200"/>
              <a:gd name="connsiteX14" fmla="*/ 757810 w 6858001"/>
              <a:gd name="connsiteY14" fmla="*/ 96483 h 6985200"/>
              <a:gd name="connsiteX15" fmla="*/ 923774 w 6858001"/>
              <a:gd name="connsiteY15" fmla="*/ 114469 h 6985200"/>
              <a:gd name="connsiteX16" fmla="*/ 1104139 w 6858001"/>
              <a:gd name="connsiteY16" fmla="*/ 132454 h 6985200"/>
              <a:gd name="connsiteX17" fmla="*/ 1296163 w 6858001"/>
              <a:gd name="connsiteY17" fmla="*/ 150776 h 6985200"/>
              <a:gd name="connsiteX18" fmla="*/ 1503275 w 6858001"/>
              <a:gd name="connsiteY18" fmla="*/ 167753 h 6985200"/>
              <a:gd name="connsiteX19" fmla="*/ 1719988 w 6858001"/>
              <a:gd name="connsiteY19" fmla="*/ 184058 h 6985200"/>
              <a:gd name="connsiteX20" fmla="*/ 1949045 w 6858001"/>
              <a:gd name="connsiteY20" fmla="*/ 198849 h 6985200"/>
              <a:gd name="connsiteX21" fmla="*/ 2187703 w 6858001"/>
              <a:gd name="connsiteY21" fmla="*/ 212969 h 6985200"/>
              <a:gd name="connsiteX22" fmla="*/ 2436649 w 6858001"/>
              <a:gd name="connsiteY22" fmla="*/ 226248 h 6985200"/>
              <a:gd name="connsiteX23" fmla="*/ 2564208 w 6858001"/>
              <a:gd name="connsiteY23" fmla="*/ 230955 h 6985200"/>
              <a:gd name="connsiteX24" fmla="*/ 2694509 w 6858001"/>
              <a:gd name="connsiteY24" fmla="*/ 236165 h 6985200"/>
              <a:gd name="connsiteX25" fmla="*/ 2826869 w 6858001"/>
              <a:gd name="connsiteY25" fmla="*/ 241040 h 6985200"/>
              <a:gd name="connsiteX26" fmla="*/ 2959914 w 6858001"/>
              <a:gd name="connsiteY26" fmla="*/ 244234 h 6985200"/>
              <a:gd name="connsiteX27" fmla="*/ 3095702 w 6858001"/>
              <a:gd name="connsiteY27" fmla="*/ 247091 h 6985200"/>
              <a:gd name="connsiteX28" fmla="*/ 3232862 w 6858001"/>
              <a:gd name="connsiteY28" fmla="*/ 250117 h 6985200"/>
              <a:gd name="connsiteX29" fmla="*/ 3372766 w 6858001"/>
              <a:gd name="connsiteY29" fmla="*/ 252134 h 6985200"/>
              <a:gd name="connsiteX30" fmla="*/ 3514040 w 6858001"/>
              <a:gd name="connsiteY30" fmla="*/ 252134 h 6985200"/>
              <a:gd name="connsiteX31" fmla="*/ 3656686 w 6858001"/>
              <a:gd name="connsiteY31" fmla="*/ 253142 h 6985200"/>
              <a:gd name="connsiteX32" fmla="*/ 3800705 w 6858001"/>
              <a:gd name="connsiteY32" fmla="*/ 252134 h 6985200"/>
              <a:gd name="connsiteX33" fmla="*/ 3946780 w 6858001"/>
              <a:gd name="connsiteY33" fmla="*/ 250117 h 6985200"/>
              <a:gd name="connsiteX34" fmla="*/ 4092856 w 6858001"/>
              <a:gd name="connsiteY34" fmla="*/ 248268 h 6985200"/>
              <a:gd name="connsiteX35" fmla="*/ 4240988 w 6858001"/>
              <a:gd name="connsiteY35" fmla="*/ 244234 h 6985200"/>
              <a:gd name="connsiteX36" fmla="*/ 4390492 w 6858001"/>
              <a:gd name="connsiteY36" fmla="*/ 240032 h 6985200"/>
              <a:gd name="connsiteX37" fmla="*/ 4539997 w 6858001"/>
              <a:gd name="connsiteY37" fmla="*/ 235157 h 6985200"/>
              <a:gd name="connsiteX38" fmla="*/ 4690873 w 6858001"/>
              <a:gd name="connsiteY38" fmla="*/ 228266 h 6985200"/>
              <a:gd name="connsiteX39" fmla="*/ 4843120 w 6858001"/>
              <a:gd name="connsiteY39" fmla="*/ 220029 h 6985200"/>
              <a:gd name="connsiteX40" fmla="*/ 4996054 w 6858001"/>
              <a:gd name="connsiteY40" fmla="*/ 212129 h 6985200"/>
              <a:gd name="connsiteX41" fmla="*/ 5148987 w 6858001"/>
              <a:gd name="connsiteY41" fmla="*/ 202044 h 6985200"/>
              <a:gd name="connsiteX42" fmla="*/ 5303978 w 6858001"/>
              <a:gd name="connsiteY42" fmla="*/ 189941 h 6985200"/>
              <a:gd name="connsiteX43" fmla="*/ 5456911 w 6858001"/>
              <a:gd name="connsiteY43" fmla="*/ 177839 h 6985200"/>
              <a:gd name="connsiteX44" fmla="*/ 5612588 w 6858001"/>
              <a:gd name="connsiteY44" fmla="*/ 163887 h 6985200"/>
              <a:gd name="connsiteX45" fmla="*/ 5768950 w 6858001"/>
              <a:gd name="connsiteY45" fmla="*/ 148591 h 6985200"/>
              <a:gd name="connsiteX46" fmla="*/ 5923255 w 6858001"/>
              <a:gd name="connsiteY46" fmla="*/ 132455 h 6985200"/>
              <a:gd name="connsiteX47" fmla="*/ 6079618 w 6858001"/>
              <a:gd name="connsiteY47" fmla="*/ 113629 h 6985200"/>
              <a:gd name="connsiteX48" fmla="*/ 6235294 w 6858001"/>
              <a:gd name="connsiteY48" fmla="*/ 93458 h 6985200"/>
              <a:gd name="connsiteX49" fmla="*/ 6391657 w 6858001"/>
              <a:gd name="connsiteY49" fmla="*/ 73455 h 6985200"/>
              <a:gd name="connsiteX50" fmla="*/ 6547333 w 6858001"/>
              <a:gd name="connsiteY50" fmla="*/ 50091 h 6985200"/>
              <a:gd name="connsiteX51" fmla="*/ 6702324 w 6858001"/>
              <a:gd name="connsiteY51" fmla="*/ 26222 h 6985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858001" h="6985200">
                <a:moveTo>
                  <a:pt x="6858001" y="1177"/>
                </a:moveTo>
                <a:lnTo>
                  <a:pt x="6858001" y="1344715"/>
                </a:lnTo>
                <a:lnTo>
                  <a:pt x="6858000" y="1344715"/>
                </a:lnTo>
                <a:lnTo>
                  <a:pt x="6858000" y="6985200"/>
                </a:lnTo>
                <a:lnTo>
                  <a:pt x="0" y="6985199"/>
                </a:lnTo>
                <a:lnTo>
                  <a:pt x="0" y="886772"/>
                </a:lnTo>
                <a:lnTo>
                  <a:pt x="1" y="886772"/>
                </a:lnTo>
                <a:lnTo>
                  <a:pt x="1" y="0"/>
                </a:lnTo>
                <a:lnTo>
                  <a:pt x="40463" y="5883"/>
                </a:lnTo>
                <a:lnTo>
                  <a:pt x="159107" y="23196"/>
                </a:lnTo>
                <a:lnTo>
                  <a:pt x="245518" y="35299"/>
                </a:lnTo>
                <a:lnTo>
                  <a:pt x="348388" y="48073"/>
                </a:lnTo>
                <a:lnTo>
                  <a:pt x="470460" y="63369"/>
                </a:lnTo>
                <a:lnTo>
                  <a:pt x="605563" y="79506"/>
                </a:lnTo>
                <a:lnTo>
                  <a:pt x="757810" y="96483"/>
                </a:lnTo>
                <a:lnTo>
                  <a:pt x="923774" y="114469"/>
                </a:lnTo>
                <a:lnTo>
                  <a:pt x="1104139" y="132454"/>
                </a:lnTo>
                <a:lnTo>
                  <a:pt x="1296163" y="150776"/>
                </a:lnTo>
                <a:lnTo>
                  <a:pt x="1503275" y="167753"/>
                </a:lnTo>
                <a:lnTo>
                  <a:pt x="1719988" y="184058"/>
                </a:lnTo>
                <a:lnTo>
                  <a:pt x="1949045" y="198849"/>
                </a:lnTo>
                <a:lnTo>
                  <a:pt x="2187703" y="212969"/>
                </a:lnTo>
                <a:lnTo>
                  <a:pt x="2436649" y="226248"/>
                </a:lnTo>
                <a:lnTo>
                  <a:pt x="2564208" y="230955"/>
                </a:lnTo>
                <a:lnTo>
                  <a:pt x="2694509" y="236165"/>
                </a:lnTo>
                <a:lnTo>
                  <a:pt x="2826869" y="241040"/>
                </a:lnTo>
                <a:lnTo>
                  <a:pt x="2959914" y="244234"/>
                </a:lnTo>
                <a:lnTo>
                  <a:pt x="3095702" y="247091"/>
                </a:lnTo>
                <a:lnTo>
                  <a:pt x="3232862" y="250117"/>
                </a:lnTo>
                <a:lnTo>
                  <a:pt x="3372766" y="252134"/>
                </a:lnTo>
                <a:lnTo>
                  <a:pt x="3514040" y="252134"/>
                </a:lnTo>
                <a:lnTo>
                  <a:pt x="3656686" y="253142"/>
                </a:lnTo>
                <a:lnTo>
                  <a:pt x="3800705" y="252134"/>
                </a:lnTo>
                <a:lnTo>
                  <a:pt x="3946780" y="250117"/>
                </a:lnTo>
                <a:lnTo>
                  <a:pt x="4092856" y="248268"/>
                </a:lnTo>
                <a:lnTo>
                  <a:pt x="4240988" y="244234"/>
                </a:lnTo>
                <a:lnTo>
                  <a:pt x="4390492" y="240032"/>
                </a:lnTo>
                <a:lnTo>
                  <a:pt x="4539997" y="235157"/>
                </a:lnTo>
                <a:lnTo>
                  <a:pt x="4690873" y="228266"/>
                </a:lnTo>
                <a:lnTo>
                  <a:pt x="4843120" y="220029"/>
                </a:lnTo>
                <a:lnTo>
                  <a:pt x="4996054" y="212129"/>
                </a:lnTo>
                <a:lnTo>
                  <a:pt x="5148987" y="202044"/>
                </a:lnTo>
                <a:lnTo>
                  <a:pt x="5303978" y="189941"/>
                </a:lnTo>
                <a:lnTo>
                  <a:pt x="5456911" y="177839"/>
                </a:lnTo>
                <a:lnTo>
                  <a:pt x="5612588" y="163887"/>
                </a:lnTo>
                <a:lnTo>
                  <a:pt x="5768950" y="148591"/>
                </a:lnTo>
                <a:lnTo>
                  <a:pt x="5923255" y="132455"/>
                </a:lnTo>
                <a:lnTo>
                  <a:pt x="6079618" y="113629"/>
                </a:lnTo>
                <a:lnTo>
                  <a:pt x="6235294" y="93458"/>
                </a:lnTo>
                <a:lnTo>
                  <a:pt x="6391657" y="73455"/>
                </a:lnTo>
                <a:lnTo>
                  <a:pt x="6547333" y="50091"/>
                </a:lnTo>
                <a:lnTo>
                  <a:pt x="6702324" y="26222"/>
                </a:lnTo>
                <a:close/>
              </a:path>
            </a:pathLst>
          </a:custGeom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92A1116-1C84-41DF-B803-1F7B0883EC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4244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1B107B6-DC43-C108-70F6-6EFE2C696F06}"/>
              </a:ext>
            </a:extLst>
          </p:cNvPr>
          <p:cNvSpPr txBox="1"/>
          <p:nvPr/>
        </p:nvSpPr>
        <p:spPr>
          <a:xfrm>
            <a:off x="287011" y="2539181"/>
            <a:ext cx="4166509" cy="37854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85750" indent="-285750"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" pitchFamily="2" charset="2"/>
              <a:buChar char="Ø"/>
            </a:pPr>
            <a:r>
              <a:rPr lang="en-US" cap="small" dirty="0">
                <a:solidFill>
                  <a:srgbClr val="EBEBEB"/>
                </a:soli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j-lt"/>
                <a:ea typeface="+mj-ea"/>
                <a:cs typeface="+mj-cs"/>
              </a:rPr>
              <a:t>Primary keys uniquely identify records.</a:t>
            </a:r>
          </a:p>
          <a:p>
            <a:pPr marL="285750" indent="-285750">
              <a:spcBef>
                <a:spcPts val="1000"/>
              </a:spcBef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" pitchFamily="2" charset="2"/>
              <a:buChar char="Ø"/>
            </a:pPr>
            <a:r>
              <a:rPr lang="en-US" cap="small" dirty="0">
                <a:solidFill>
                  <a:srgbClr val="EBEBEB"/>
                </a:soli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44450" dist="12700" dir="13860000" algn="tl" rotWithShape="0">
                    <a:srgbClr val="000000">
                      <a:alpha val="20000"/>
                    </a:srgbClr>
                  </a:outerShdw>
                </a:effectLst>
                <a:latin typeface="+mj-lt"/>
                <a:ea typeface="+mj-ea"/>
                <a:cs typeface="+mj-cs"/>
              </a:rPr>
              <a:t>Foreign keys connect related tables in the relational schema.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883F804-BA51-960B-E805-A1693D63C45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25768095"/>
              </p:ext>
            </p:extLst>
          </p:nvPr>
        </p:nvGraphicFramePr>
        <p:xfrm>
          <a:off x="6093992" y="1052769"/>
          <a:ext cx="5449890" cy="4752468"/>
        </p:xfrm>
        <a:graphic>
          <a:graphicData uri="http://schemas.openxmlformats.org/drawingml/2006/table">
            <a:tbl>
              <a:tblPr>
                <a:solidFill>
                  <a:schemeClr val="bg1"/>
                </a:solidFill>
                <a:tableStyleId>{5C22544A-7EE6-4342-B048-85BDC9FD1C3A}</a:tableStyleId>
              </a:tblPr>
              <a:tblGrid>
                <a:gridCol w="2228070">
                  <a:extLst>
                    <a:ext uri="{9D8B030D-6E8A-4147-A177-3AD203B41FA5}">
                      <a16:colId xmlns:a16="http://schemas.microsoft.com/office/drawing/2014/main" val="3558064150"/>
                    </a:ext>
                  </a:extLst>
                </a:gridCol>
                <a:gridCol w="3221820">
                  <a:extLst>
                    <a:ext uri="{9D8B030D-6E8A-4147-A177-3AD203B41FA5}">
                      <a16:colId xmlns:a16="http://schemas.microsoft.com/office/drawing/2014/main" val="830663183"/>
                    </a:ext>
                  </a:extLst>
                </a:gridCol>
              </a:tblGrid>
              <a:tr h="4531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cap="none" spc="0">
                          <a:solidFill>
                            <a:schemeClr val="tx1"/>
                          </a:solidFill>
                        </a:rPr>
                        <a:t>Table</a:t>
                      </a:r>
                    </a:p>
                  </a:txBody>
                  <a:tcPr marL="124124" marR="81556" marT="95481" marB="95481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cap="none" spc="0">
                          <a:solidFill>
                            <a:schemeClr val="tx1"/>
                          </a:solidFill>
                        </a:rPr>
                        <a:t>Primary key</a:t>
                      </a:r>
                    </a:p>
                  </a:txBody>
                  <a:tcPr marL="124124" marR="81556" marT="95481" marB="95481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47366320"/>
                  </a:ext>
                </a:extLst>
              </a:tr>
              <a:tr h="4531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cap="none" spc="0" dirty="0">
                          <a:solidFill>
                            <a:schemeClr val="tx1"/>
                          </a:solidFill>
                        </a:rPr>
                        <a:t>TimePeriod</a:t>
                      </a:r>
                    </a:p>
                  </a:txBody>
                  <a:tcPr marL="124124" marR="81556" marT="95481" marB="95481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cap="none" spc="0">
                          <a:solidFill>
                            <a:schemeClr val="tx1"/>
                          </a:solidFill>
                        </a:rPr>
                        <a:t>FL_DATE</a:t>
                      </a:r>
                    </a:p>
                  </a:txBody>
                  <a:tcPr marL="124124" marR="81556" marT="95481" marB="95481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1140191"/>
                  </a:ext>
                </a:extLst>
              </a:tr>
              <a:tr h="4531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cap="none" spc="0">
                          <a:solidFill>
                            <a:schemeClr val="tx1"/>
                          </a:solidFill>
                        </a:rPr>
                        <a:t>State</a:t>
                      </a:r>
                    </a:p>
                  </a:txBody>
                  <a:tcPr marL="124124" marR="81556" marT="95481" marB="95481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cap="none" spc="0">
                          <a:solidFill>
                            <a:schemeClr val="tx1"/>
                          </a:solidFill>
                        </a:rPr>
                        <a:t>STATE_ABR</a:t>
                      </a:r>
                    </a:p>
                  </a:txBody>
                  <a:tcPr marL="124124" marR="81556" marT="95481" marB="95481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8501483"/>
                  </a:ext>
                </a:extLst>
              </a:tr>
              <a:tr h="4531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cap="none" spc="0">
                          <a:solidFill>
                            <a:schemeClr val="tx1"/>
                          </a:solidFill>
                        </a:rPr>
                        <a:t>Airlines</a:t>
                      </a:r>
                    </a:p>
                  </a:txBody>
                  <a:tcPr marL="124124" marR="81556" marT="95481" marB="95481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cap="none" spc="0">
                          <a:solidFill>
                            <a:schemeClr val="tx1"/>
                          </a:solidFill>
                        </a:rPr>
                        <a:t>OP_CARRIER_AIRLINE_ID</a:t>
                      </a:r>
                    </a:p>
                  </a:txBody>
                  <a:tcPr marL="124124" marR="81556" marT="95481" marB="95481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7795903"/>
                  </a:ext>
                </a:extLst>
              </a:tr>
              <a:tr h="4531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cap="none" spc="0">
                          <a:solidFill>
                            <a:schemeClr val="tx1"/>
                          </a:solidFill>
                        </a:rPr>
                        <a:t>Airports</a:t>
                      </a:r>
                    </a:p>
                  </a:txBody>
                  <a:tcPr marL="124124" marR="81556" marT="95481" marB="95481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cap="none" spc="0">
                          <a:solidFill>
                            <a:schemeClr val="tx1"/>
                          </a:solidFill>
                        </a:rPr>
                        <a:t>AIRPORT_ID</a:t>
                      </a:r>
                    </a:p>
                  </a:txBody>
                  <a:tcPr marL="124124" marR="81556" marT="95481" marB="95481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06997664"/>
                  </a:ext>
                </a:extLst>
              </a:tr>
              <a:tr h="4531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cap="none" spc="0">
                          <a:solidFill>
                            <a:schemeClr val="tx1"/>
                          </a:solidFill>
                        </a:rPr>
                        <a:t>Routes</a:t>
                      </a:r>
                    </a:p>
                  </a:txBody>
                  <a:tcPr marL="124124" marR="81556" marT="95481" marB="95481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cap="none" spc="0">
                          <a:solidFill>
                            <a:schemeClr val="tx1"/>
                          </a:solidFill>
                        </a:rPr>
                        <a:t>ROUTE_ID</a:t>
                      </a:r>
                    </a:p>
                  </a:txBody>
                  <a:tcPr marL="124124" marR="81556" marT="95481" marB="95481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3427759"/>
                  </a:ext>
                </a:extLst>
              </a:tr>
              <a:tr h="4531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cap="none" spc="0">
                          <a:solidFill>
                            <a:schemeClr val="tx1"/>
                          </a:solidFill>
                        </a:rPr>
                        <a:t>Flights</a:t>
                      </a:r>
                    </a:p>
                  </a:txBody>
                  <a:tcPr marL="124124" marR="81556" marT="95481" marB="95481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cap="none" spc="0">
                          <a:solidFill>
                            <a:schemeClr val="tx1"/>
                          </a:solidFill>
                        </a:rPr>
                        <a:t>FLIGHT_ID</a:t>
                      </a:r>
                    </a:p>
                  </a:txBody>
                  <a:tcPr marL="124124" marR="81556" marT="95481" marB="95481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18522742"/>
                  </a:ext>
                </a:extLst>
              </a:tr>
              <a:tr h="4531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cap="none" spc="0" dirty="0">
                          <a:solidFill>
                            <a:schemeClr val="tx1"/>
                          </a:solidFill>
                        </a:rPr>
                        <a:t>FlightPerformance</a:t>
                      </a:r>
                    </a:p>
                  </a:txBody>
                  <a:tcPr marL="124124" marR="81556" marT="95481" marB="95481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cap="none" spc="0">
                          <a:solidFill>
                            <a:schemeClr val="tx1"/>
                          </a:solidFill>
                        </a:rPr>
                        <a:t>FLIGHT_ID</a:t>
                      </a:r>
                    </a:p>
                  </a:txBody>
                  <a:tcPr marL="124124" marR="81556" marT="95481" marB="95481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28574193"/>
                  </a:ext>
                </a:extLst>
              </a:tr>
              <a:tr h="4531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cap="none" spc="0" dirty="0">
                          <a:solidFill>
                            <a:schemeClr val="tx1"/>
                          </a:solidFill>
                        </a:rPr>
                        <a:t>FlightDelay</a:t>
                      </a:r>
                    </a:p>
                  </a:txBody>
                  <a:tcPr marL="124124" marR="81556" marT="95481" marB="95481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cap="none" spc="0">
                          <a:solidFill>
                            <a:schemeClr val="tx1"/>
                          </a:solidFill>
                        </a:rPr>
                        <a:t>FLIGHT_ID + DELAY_ID</a:t>
                      </a:r>
                    </a:p>
                  </a:txBody>
                  <a:tcPr marL="124124" marR="81556" marT="95481" marB="95481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76917444"/>
                  </a:ext>
                </a:extLst>
              </a:tr>
              <a:tr h="67441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cap="none" spc="0" dirty="0">
                          <a:solidFill>
                            <a:schemeClr val="tx1"/>
                          </a:solidFill>
                        </a:rPr>
                        <a:t>FlightDiversion</a:t>
                      </a:r>
                    </a:p>
                  </a:txBody>
                  <a:tcPr marL="124124" marR="81556" marT="95481" marB="95481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cap="none" spc="0">
                          <a:solidFill>
                            <a:schemeClr val="tx1"/>
                          </a:solidFill>
                        </a:rPr>
                        <a:t>FLIGHT_ID + DIVERSION_NUMBER</a:t>
                      </a:r>
                    </a:p>
                  </a:txBody>
                  <a:tcPr marL="124124" marR="81556" marT="95481" marB="95481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78853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7169069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2C0500-328E-0C57-1F52-303657D626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111" y="173318"/>
            <a:ext cx="9404723" cy="1400530"/>
          </a:xfrm>
        </p:spPr>
        <p:txBody>
          <a:bodyPr/>
          <a:lstStyle/>
          <a:p>
            <a:r>
              <a:rPr lang="en-US" sz="3200" dirty="0"/>
              <a:t>Functional Dependencies:</a:t>
            </a:r>
            <a:br>
              <a:rPr lang="en-US" sz="4000" dirty="0"/>
            </a:br>
            <a:br>
              <a:rPr lang="en-US" sz="4000" dirty="0"/>
            </a:br>
            <a:endParaRPr lang="en-US" sz="4000" dirty="0"/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7B9B9C68-F3F3-6355-9CC2-8F29E4F106B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39504718"/>
              </p:ext>
            </p:extLst>
          </p:nvPr>
        </p:nvGraphicFramePr>
        <p:xfrm>
          <a:off x="1002201" y="1163918"/>
          <a:ext cx="8946541" cy="41954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E508DCC5-E2E4-FD4A-54E1-0271C1CBB383}"/>
              </a:ext>
            </a:extLst>
          </p:cNvPr>
          <p:cNvSpPr txBox="1"/>
          <p:nvPr/>
        </p:nvSpPr>
        <p:spPr>
          <a:xfrm>
            <a:off x="228600" y="5782982"/>
            <a:ext cx="109696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These dependencies guided the decomposition of the raw BTS dataset into normalized relations.</a:t>
            </a:r>
          </a:p>
        </p:txBody>
      </p:sp>
    </p:spTree>
    <p:extLst>
      <p:ext uri="{BB962C8B-B14F-4D97-AF65-F5344CB8AC3E}">
        <p14:creationId xmlns:p14="http://schemas.microsoft.com/office/powerpoint/2010/main" val="35077315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74CD14DB-BB81-479F-A1FC-1C75640E9F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C943A91B-7CA7-4592-A975-73B1BF8C4C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1" name="Freeform 7">
            <a:extLst>
              <a:ext uri="{FF2B5EF4-FFF2-40B4-BE49-F238E27FC236}">
                <a16:creationId xmlns:a16="http://schemas.microsoft.com/office/drawing/2014/main" id="{EC471314-E46A-414B-8D91-74880E84F1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19939" y="1460230"/>
            <a:ext cx="3472060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 useBgFill="1">
        <p:nvSpPr>
          <p:cNvPr id="32" name="Freeform: Shape 21">
            <a:extLst>
              <a:ext uri="{FF2B5EF4-FFF2-40B4-BE49-F238E27FC236}">
                <a16:creationId xmlns:a16="http://schemas.microsoft.com/office/drawing/2014/main" id="{6A681326-1C9D-44A3-A627-3871BDAE41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1" y="1762067"/>
            <a:ext cx="12192417" cy="5095933"/>
          </a:xfrm>
          <a:custGeom>
            <a:avLst/>
            <a:gdLst>
              <a:gd name="connsiteX0" fmla="*/ 0 w 12192417"/>
              <a:gd name="connsiteY0" fmla="*/ 0 h 5095933"/>
              <a:gd name="connsiteX1" fmla="*/ 71931 w 12192417"/>
              <a:gd name="connsiteY1" fmla="*/ 12261 h 5095933"/>
              <a:gd name="connsiteX2" fmla="*/ 282848 w 12192417"/>
              <a:gd name="connsiteY2" fmla="*/ 48343 h 5095933"/>
              <a:gd name="connsiteX3" fmla="*/ 436463 w 12192417"/>
              <a:gd name="connsiteY3" fmla="*/ 73565 h 5095933"/>
              <a:gd name="connsiteX4" fmla="*/ 619338 w 12192417"/>
              <a:gd name="connsiteY4" fmla="*/ 100188 h 5095933"/>
              <a:gd name="connsiteX5" fmla="*/ 836350 w 12192417"/>
              <a:gd name="connsiteY5" fmla="*/ 132066 h 5095933"/>
              <a:gd name="connsiteX6" fmla="*/ 1076527 w 12192417"/>
              <a:gd name="connsiteY6" fmla="*/ 165696 h 5095933"/>
              <a:gd name="connsiteX7" fmla="*/ 1347183 w 12192417"/>
              <a:gd name="connsiteY7" fmla="*/ 201077 h 5095933"/>
              <a:gd name="connsiteX8" fmla="*/ 1642222 w 12192417"/>
              <a:gd name="connsiteY8" fmla="*/ 238560 h 5095933"/>
              <a:gd name="connsiteX9" fmla="*/ 1962863 w 12192417"/>
              <a:gd name="connsiteY9" fmla="*/ 276043 h 5095933"/>
              <a:gd name="connsiteX10" fmla="*/ 2304231 w 12192417"/>
              <a:gd name="connsiteY10" fmla="*/ 314227 h 5095933"/>
              <a:gd name="connsiteX11" fmla="*/ 2672420 w 12192417"/>
              <a:gd name="connsiteY11" fmla="*/ 349608 h 5095933"/>
              <a:gd name="connsiteX12" fmla="*/ 3057677 w 12192417"/>
              <a:gd name="connsiteY12" fmla="*/ 383588 h 5095933"/>
              <a:gd name="connsiteX13" fmla="*/ 3464880 w 12192417"/>
              <a:gd name="connsiteY13" fmla="*/ 414415 h 5095933"/>
              <a:gd name="connsiteX14" fmla="*/ 3889151 w 12192417"/>
              <a:gd name="connsiteY14" fmla="*/ 443841 h 5095933"/>
              <a:gd name="connsiteX15" fmla="*/ 4331709 w 12192417"/>
              <a:gd name="connsiteY15" fmla="*/ 471515 h 5095933"/>
              <a:gd name="connsiteX16" fmla="*/ 4558475 w 12192417"/>
              <a:gd name="connsiteY16" fmla="*/ 481324 h 5095933"/>
              <a:gd name="connsiteX17" fmla="*/ 4790117 w 12192417"/>
              <a:gd name="connsiteY17" fmla="*/ 492183 h 5095933"/>
              <a:gd name="connsiteX18" fmla="*/ 5025417 w 12192417"/>
              <a:gd name="connsiteY18" fmla="*/ 502342 h 5095933"/>
              <a:gd name="connsiteX19" fmla="*/ 5261936 w 12192417"/>
              <a:gd name="connsiteY19" fmla="*/ 508998 h 5095933"/>
              <a:gd name="connsiteX20" fmla="*/ 5503331 w 12192417"/>
              <a:gd name="connsiteY20" fmla="*/ 514953 h 5095933"/>
              <a:gd name="connsiteX21" fmla="*/ 5747166 w 12192417"/>
              <a:gd name="connsiteY21" fmla="*/ 521259 h 5095933"/>
              <a:gd name="connsiteX22" fmla="*/ 5995876 w 12192417"/>
              <a:gd name="connsiteY22" fmla="*/ 525463 h 5095933"/>
              <a:gd name="connsiteX23" fmla="*/ 6247025 w 12192417"/>
              <a:gd name="connsiteY23" fmla="*/ 525463 h 5095933"/>
              <a:gd name="connsiteX24" fmla="*/ 6500612 w 12192417"/>
              <a:gd name="connsiteY24" fmla="*/ 527565 h 5095933"/>
              <a:gd name="connsiteX25" fmla="*/ 6756638 w 12192417"/>
              <a:gd name="connsiteY25" fmla="*/ 525463 h 5095933"/>
              <a:gd name="connsiteX26" fmla="*/ 7016321 w 12192417"/>
              <a:gd name="connsiteY26" fmla="*/ 521259 h 5095933"/>
              <a:gd name="connsiteX27" fmla="*/ 7276004 w 12192417"/>
              <a:gd name="connsiteY27" fmla="*/ 517406 h 5095933"/>
              <a:gd name="connsiteX28" fmla="*/ 7539344 w 12192417"/>
              <a:gd name="connsiteY28" fmla="*/ 508998 h 5095933"/>
              <a:gd name="connsiteX29" fmla="*/ 7805123 w 12192417"/>
              <a:gd name="connsiteY29" fmla="*/ 500241 h 5095933"/>
              <a:gd name="connsiteX30" fmla="*/ 8070902 w 12192417"/>
              <a:gd name="connsiteY30" fmla="*/ 490082 h 5095933"/>
              <a:gd name="connsiteX31" fmla="*/ 8339120 w 12192417"/>
              <a:gd name="connsiteY31" fmla="*/ 475719 h 5095933"/>
              <a:gd name="connsiteX32" fmla="*/ 8609775 w 12192417"/>
              <a:gd name="connsiteY32" fmla="*/ 458554 h 5095933"/>
              <a:gd name="connsiteX33" fmla="*/ 8881650 w 12192417"/>
              <a:gd name="connsiteY33" fmla="*/ 442089 h 5095933"/>
              <a:gd name="connsiteX34" fmla="*/ 9153525 w 12192417"/>
              <a:gd name="connsiteY34" fmla="*/ 421071 h 5095933"/>
              <a:gd name="connsiteX35" fmla="*/ 9429057 w 12192417"/>
              <a:gd name="connsiteY35" fmla="*/ 395849 h 5095933"/>
              <a:gd name="connsiteX36" fmla="*/ 9700932 w 12192417"/>
              <a:gd name="connsiteY36" fmla="*/ 370626 h 5095933"/>
              <a:gd name="connsiteX37" fmla="*/ 9977683 w 12192417"/>
              <a:gd name="connsiteY37" fmla="*/ 341551 h 5095933"/>
              <a:gd name="connsiteX38" fmla="*/ 10255654 w 12192417"/>
              <a:gd name="connsiteY38" fmla="*/ 309673 h 5095933"/>
              <a:gd name="connsiteX39" fmla="*/ 10529967 w 12192417"/>
              <a:gd name="connsiteY39" fmla="*/ 276043 h 5095933"/>
              <a:gd name="connsiteX40" fmla="*/ 10807938 w 12192417"/>
              <a:gd name="connsiteY40" fmla="*/ 236809 h 5095933"/>
              <a:gd name="connsiteX41" fmla="*/ 11084689 w 12192417"/>
              <a:gd name="connsiteY41" fmla="*/ 194772 h 5095933"/>
              <a:gd name="connsiteX42" fmla="*/ 11362660 w 12192417"/>
              <a:gd name="connsiteY42" fmla="*/ 153085 h 5095933"/>
              <a:gd name="connsiteX43" fmla="*/ 11639411 w 12192417"/>
              <a:gd name="connsiteY43" fmla="*/ 104392 h 5095933"/>
              <a:gd name="connsiteX44" fmla="*/ 11914944 w 12192417"/>
              <a:gd name="connsiteY44" fmla="*/ 54648 h 5095933"/>
              <a:gd name="connsiteX45" fmla="*/ 12191695 w 12192417"/>
              <a:gd name="connsiteY45" fmla="*/ 2452 h 5095933"/>
              <a:gd name="connsiteX46" fmla="*/ 12191695 w 12192417"/>
              <a:gd name="connsiteY46" fmla="*/ 2162231 h 5095933"/>
              <a:gd name="connsiteX47" fmla="*/ 12192417 w 12192417"/>
              <a:gd name="connsiteY47" fmla="*/ 2162231 h 5095933"/>
              <a:gd name="connsiteX48" fmla="*/ 12192417 w 12192417"/>
              <a:gd name="connsiteY48" fmla="*/ 5095933 h 5095933"/>
              <a:gd name="connsiteX49" fmla="*/ 0 w 12192417"/>
              <a:gd name="connsiteY49" fmla="*/ 5095933 h 5095933"/>
              <a:gd name="connsiteX50" fmla="*/ 0 w 12192417"/>
              <a:gd name="connsiteY50" fmla="*/ 2791958 h 5095933"/>
              <a:gd name="connsiteX51" fmla="*/ 0 w 12192417"/>
              <a:gd name="connsiteY51" fmla="*/ 2162231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12192417" h="5095933">
                <a:moveTo>
                  <a:pt x="0" y="0"/>
                </a:moveTo>
                <a:lnTo>
                  <a:pt x="71931" y="12261"/>
                </a:lnTo>
                <a:lnTo>
                  <a:pt x="282848" y="48343"/>
                </a:lnTo>
                <a:lnTo>
                  <a:pt x="436463" y="73565"/>
                </a:lnTo>
                <a:lnTo>
                  <a:pt x="619338" y="100188"/>
                </a:lnTo>
                <a:lnTo>
                  <a:pt x="836350" y="132066"/>
                </a:lnTo>
                <a:lnTo>
                  <a:pt x="1076527" y="165696"/>
                </a:lnTo>
                <a:lnTo>
                  <a:pt x="1347183" y="201077"/>
                </a:lnTo>
                <a:lnTo>
                  <a:pt x="1642222" y="238560"/>
                </a:lnTo>
                <a:lnTo>
                  <a:pt x="1962863" y="276043"/>
                </a:lnTo>
                <a:lnTo>
                  <a:pt x="2304231" y="314227"/>
                </a:lnTo>
                <a:lnTo>
                  <a:pt x="2672420" y="349608"/>
                </a:lnTo>
                <a:lnTo>
                  <a:pt x="3057677" y="383588"/>
                </a:lnTo>
                <a:lnTo>
                  <a:pt x="3464880" y="414415"/>
                </a:lnTo>
                <a:lnTo>
                  <a:pt x="3889151" y="443841"/>
                </a:lnTo>
                <a:lnTo>
                  <a:pt x="4331709" y="471515"/>
                </a:lnTo>
                <a:lnTo>
                  <a:pt x="4558475" y="481324"/>
                </a:lnTo>
                <a:lnTo>
                  <a:pt x="4790117" y="492183"/>
                </a:lnTo>
                <a:lnTo>
                  <a:pt x="5025417" y="502342"/>
                </a:lnTo>
                <a:lnTo>
                  <a:pt x="5261936" y="508998"/>
                </a:lnTo>
                <a:lnTo>
                  <a:pt x="5503331" y="514953"/>
                </a:lnTo>
                <a:lnTo>
                  <a:pt x="5747166" y="521259"/>
                </a:lnTo>
                <a:lnTo>
                  <a:pt x="5995876" y="525463"/>
                </a:lnTo>
                <a:lnTo>
                  <a:pt x="6247025" y="525463"/>
                </a:lnTo>
                <a:lnTo>
                  <a:pt x="6500612" y="527565"/>
                </a:lnTo>
                <a:lnTo>
                  <a:pt x="6756638" y="525463"/>
                </a:lnTo>
                <a:lnTo>
                  <a:pt x="7016321" y="521259"/>
                </a:lnTo>
                <a:lnTo>
                  <a:pt x="7276004" y="517406"/>
                </a:lnTo>
                <a:lnTo>
                  <a:pt x="7539344" y="508998"/>
                </a:lnTo>
                <a:lnTo>
                  <a:pt x="7805123" y="500241"/>
                </a:lnTo>
                <a:lnTo>
                  <a:pt x="8070902" y="490082"/>
                </a:lnTo>
                <a:lnTo>
                  <a:pt x="8339120" y="475719"/>
                </a:lnTo>
                <a:lnTo>
                  <a:pt x="8609775" y="458554"/>
                </a:lnTo>
                <a:lnTo>
                  <a:pt x="8881650" y="442089"/>
                </a:lnTo>
                <a:lnTo>
                  <a:pt x="9153525" y="421071"/>
                </a:lnTo>
                <a:lnTo>
                  <a:pt x="9429057" y="395849"/>
                </a:lnTo>
                <a:lnTo>
                  <a:pt x="9700932" y="370626"/>
                </a:lnTo>
                <a:lnTo>
                  <a:pt x="9977683" y="341551"/>
                </a:lnTo>
                <a:lnTo>
                  <a:pt x="10255654" y="309673"/>
                </a:lnTo>
                <a:lnTo>
                  <a:pt x="10529967" y="276043"/>
                </a:lnTo>
                <a:lnTo>
                  <a:pt x="10807938" y="236809"/>
                </a:lnTo>
                <a:lnTo>
                  <a:pt x="11084689" y="194772"/>
                </a:lnTo>
                <a:lnTo>
                  <a:pt x="11362660" y="153085"/>
                </a:lnTo>
                <a:lnTo>
                  <a:pt x="11639411" y="104392"/>
                </a:lnTo>
                <a:lnTo>
                  <a:pt x="11914944" y="54648"/>
                </a:lnTo>
                <a:lnTo>
                  <a:pt x="12191695" y="2452"/>
                </a:lnTo>
                <a:lnTo>
                  <a:pt x="12191695" y="2162231"/>
                </a:lnTo>
                <a:lnTo>
                  <a:pt x="12192417" y="2162231"/>
                </a:lnTo>
                <a:lnTo>
                  <a:pt x="12192417" y="5095933"/>
                </a:lnTo>
                <a:lnTo>
                  <a:pt x="0" y="5095933"/>
                </a:lnTo>
                <a:lnTo>
                  <a:pt x="0" y="2791958"/>
                </a:lnTo>
                <a:lnTo>
                  <a:pt x="0" y="2162231"/>
                </a:lnTo>
                <a:close/>
              </a:path>
            </a:pathLst>
          </a:custGeom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6B2844BC-9ABD-3200-3485-0C7B77B8D2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0157" y="498018"/>
            <a:ext cx="8947522" cy="1400530"/>
          </a:xfrm>
        </p:spPr>
        <p:txBody>
          <a:bodyPr anchor="ctr">
            <a:normAutofit/>
          </a:bodyPr>
          <a:lstStyle/>
          <a:p>
            <a:r>
              <a:rPr lang="en-US" sz="3200" dirty="0">
                <a:solidFill>
                  <a:srgbClr val="FFFFFF"/>
                </a:solidFill>
              </a:rPr>
              <a:t>Normalization Through 3NF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C920CF1A-D85B-8EF0-3B6B-4243F6B89C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1812" y="2523057"/>
            <a:ext cx="9217830" cy="3963255"/>
          </a:xfrm>
        </p:spPr>
        <p:txBody>
          <a:bodyPr>
            <a:normAutofit fontScale="25000" lnSpcReduction="20000"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US" sz="6400" dirty="0"/>
              <a:t>Raw BTS Dataset </a:t>
            </a:r>
            <a:r>
              <a:rPr lang="en-US" sz="6400" dirty="0">
                <a:sym typeface="Wingdings" pitchFamily="2" charset="2"/>
              </a:rPr>
              <a:t> 61 raw attributes</a:t>
            </a:r>
          </a:p>
          <a:p>
            <a:pPr marL="0" indent="0">
              <a:lnSpc>
                <a:spcPct val="90000"/>
              </a:lnSpc>
              <a:buClr>
                <a:schemeClr val="tx1"/>
              </a:buClr>
              <a:buNone/>
            </a:pPr>
            <a:endParaRPr lang="en-US" sz="6400" dirty="0"/>
          </a:p>
          <a:p>
            <a:pPr marL="0" indent="0">
              <a:lnSpc>
                <a:spcPct val="90000"/>
              </a:lnSpc>
              <a:buClr>
                <a:schemeClr val="tx1"/>
              </a:buClr>
              <a:buNone/>
            </a:pPr>
            <a:r>
              <a:rPr lang="en-US" sz="6400" b="1" dirty="0"/>
              <a:t>1NF</a:t>
            </a:r>
            <a:r>
              <a:rPr lang="en-US" sz="6400" dirty="0"/>
              <a:t> — Atomic values </a:t>
            </a:r>
            <a:r>
              <a:rPr lang="en-US" sz="6400" dirty="0">
                <a:sym typeface="Wingdings" pitchFamily="2" charset="2"/>
              </a:rPr>
              <a:t>  Repeating groups of delay and diversion groups separated.</a:t>
            </a:r>
          </a:p>
          <a:p>
            <a:pPr>
              <a:lnSpc>
                <a:spcPct val="90000"/>
              </a:lnSpc>
              <a:buClr>
                <a:schemeClr val="tx1"/>
              </a:buClr>
              <a:buFont typeface="Wingdings" pitchFamily="2" charset="2"/>
              <a:buChar char="Ø"/>
            </a:pPr>
            <a:r>
              <a:rPr lang="en-US" sz="6400" dirty="0">
                <a:sym typeface="Wingdings" pitchFamily="2" charset="2"/>
              </a:rPr>
              <a:t>Flight Delay </a:t>
            </a:r>
            <a:r>
              <a:rPr lang="en-US" sz="6400" dirty="0"/>
              <a:t>• </a:t>
            </a:r>
            <a:r>
              <a:rPr lang="en-US" sz="6400" dirty="0">
                <a:sym typeface="Wingdings" pitchFamily="2" charset="2"/>
              </a:rPr>
              <a:t>Flight Diversion</a:t>
            </a:r>
          </a:p>
          <a:p>
            <a:pPr marL="0" indent="0">
              <a:lnSpc>
                <a:spcPct val="90000"/>
              </a:lnSpc>
              <a:buNone/>
            </a:pPr>
            <a:endParaRPr lang="en-US" sz="6400" dirty="0"/>
          </a:p>
          <a:p>
            <a:pPr marL="0" indent="0">
              <a:lnSpc>
                <a:spcPct val="90000"/>
              </a:lnSpc>
              <a:buNone/>
            </a:pPr>
            <a:r>
              <a:rPr lang="en-US" sz="6400" b="1" dirty="0"/>
              <a:t>2NF</a:t>
            </a:r>
            <a:r>
              <a:rPr lang="en-US" sz="6400" dirty="0"/>
              <a:t> — Partial dependencies removed </a:t>
            </a:r>
            <a:r>
              <a:rPr lang="en-US" sz="6400" dirty="0">
                <a:sym typeface="Wingdings" pitchFamily="2" charset="2"/>
              </a:rPr>
              <a:t></a:t>
            </a:r>
            <a:r>
              <a:rPr lang="en-US" sz="6400" dirty="0"/>
              <a:t> separated entities with their own keys.</a:t>
            </a:r>
          </a:p>
          <a:p>
            <a:pPr>
              <a:lnSpc>
                <a:spcPct val="90000"/>
              </a:lnSpc>
              <a:buClr>
                <a:schemeClr val="tx1"/>
              </a:buClr>
              <a:buFont typeface="Wingdings" pitchFamily="2" charset="2"/>
              <a:buChar char="Ø"/>
            </a:pPr>
            <a:r>
              <a:rPr lang="en-US" sz="6400" dirty="0"/>
              <a:t>Airlines • Airports • Routes • Time Period • Flights • Flight Performance</a:t>
            </a:r>
          </a:p>
          <a:p>
            <a:pPr marL="0" indent="0">
              <a:lnSpc>
                <a:spcPct val="90000"/>
              </a:lnSpc>
              <a:buNone/>
            </a:pPr>
            <a:endParaRPr lang="en-US" sz="6400" dirty="0"/>
          </a:p>
          <a:p>
            <a:pPr marL="0" indent="0">
              <a:lnSpc>
                <a:spcPct val="90000"/>
              </a:lnSpc>
              <a:buNone/>
            </a:pPr>
            <a:r>
              <a:rPr lang="en-US" sz="6400" b="1" dirty="0"/>
              <a:t>3NF</a:t>
            </a:r>
            <a:r>
              <a:rPr lang="en-US" sz="6400" dirty="0"/>
              <a:t> — Transitive dependencies removed </a:t>
            </a:r>
            <a:r>
              <a:rPr lang="en-US" sz="6400" dirty="0">
                <a:sym typeface="Wingdings" pitchFamily="2" charset="2"/>
              </a:rPr>
              <a:t> </a:t>
            </a:r>
            <a:r>
              <a:rPr lang="en-US" sz="6400" dirty="0"/>
              <a:t>Lookup entities separated.</a:t>
            </a:r>
          </a:p>
          <a:p>
            <a:pPr>
              <a:lnSpc>
                <a:spcPct val="90000"/>
              </a:lnSpc>
              <a:buClr>
                <a:schemeClr val="tx1"/>
              </a:buClr>
              <a:buFont typeface="Wingdings" pitchFamily="2" charset="2"/>
              <a:buChar char="Ø"/>
            </a:pPr>
            <a:r>
              <a:rPr lang="en-US" sz="6400" dirty="0"/>
              <a:t>State Names • Airline Names • Airport Names • Cancellation Reason • Delay Type</a:t>
            </a:r>
          </a:p>
          <a:p>
            <a:pPr marL="0" indent="0">
              <a:lnSpc>
                <a:spcPct val="90000"/>
              </a:lnSpc>
              <a:buNone/>
            </a:pPr>
            <a:endParaRPr lang="en-US" sz="6400" dirty="0"/>
          </a:p>
          <a:p>
            <a:pPr marL="0" indent="0">
              <a:lnSpc>
                <a:spcPct val="90000"/>
              </a:lnSpc>
              <a:buNone/>
            </a:pPr>
            <a:r>
              <a:rPr lang="en-US" sz="6400" b="1" dirty="0"/>
              <a:t>Final Schema</a:t>
            </a:r>
          </a:p>
          <a:p>
            <a:pPr>
              <a:lnSpc>
                <a:spcPct val="90000"/>
              </a:lnSpc>
              <a:buClr>
                <a:schemeClr val="tx1"/>
              </a:buClr>
              <a:buFont typeface="Wingdings" pitchFamily="2" charset="2"/>
              <a:buChar char="Ø"/>
            </a:pPr>
            <a:r>
              <a:rPr lang="en-US" sz="6400" dirty="0"/>
              <a:t>13 related tables</a:t>
            </a:r>
          </a:p>
          <a:p>
            <a:pPr marL="0" indent="0">
              <a:lnSpc>
                <a:spcPct val="90000"/>
              </a:lnSpc>
              <a:buNone/>
            </a:pP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172853281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EE4E366E-272A-409E-840F-9A6A64A9E3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721560C-E4AB-4287-A29C-3F6916794C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4244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9" name="Freeform 7">
            <a:extLst>
              <a:ext uri="{FF2B5EF4-FFF2-40B4-BE49-F238E27FC236}">
                <a16:creationId xmlns:a16="http://schemas.microsoft.com/office/drawing/2014/main" id="{DF6CFF07-D953-4F9C-9A0E-E0A6AACB61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19939" y="1460230"/>
            <a:ext cx="3472060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FF6E13B-EC50-9D46-104E-36890FF1C6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30" y="629267"/>
            <a:ext cx="9252154" cy="1016654"/>
          </a:xfrm>
        </p:spPr>
        <p:txBody>
          <a:bodyPr>
            <a:normAutofit/>
          </a:bodyPr>
          <a:lstStyle/>
          <a:p>
            <a:r>
              <a:rPr lang="en-US" sz="3200" dirty="0">
                <a:solidFill>
                  <a:srgbClr val="EBEBEB"/>
                </a:solidFill>
              </a:rPr>
              <a:t>Initial SQL Exploration :</a:t>
            </a:r>
          </a:p>
        </p:txBody>
      </p:sp>
      <p:sp useBgFill="1">
        <p:nvSpPr>
          <p:cNvPr id="31" name="Freeform: Shape 30">
            <a:extLst>
              <a:ext uri="{FF2B5EF4-FFF2-40B4-BE49-F238E27FC236}">
                <a16:creationId xmlns:a16="http://schemas.microsoft.com/office/drawing/2014/main" id="{DAA4FEEE-0B5F-41BF-825D-60F9FB0895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1" y="1762067"/>
            <a:ext cx="12192417" cy="5095933"/>
          </a:xfrm>
          <a:custGeom>
            <a:avLst/>
            <a:gdLst>
              <a:gd name="connsiteX0" fmla="*/ 0 w 12192417"/>
              <a:gd name="connsiteY0" fmla="*/ 0 h 5095933"/>
              <a:gd name="connsiteX1" fmla="*/ 71931 w 12192417"/>
              <a:gd name="connsiteY1" fmla="*/ 12261 h 5095933"/>
              <a:gd name="connsiteX2" fmla="*/ 282848 w 12192417"/>
              <a:gd name="connsiteY2" fmla="*/ 48343 h 5095933"/>
              <a:gd name="connsiteX3" fmla="*/ 436463 w 12192417"/>
              <a:gd name="connsiteY3" fmla="*/ 73565 h 5095933"/>
              <a:gd name="connsiteX4" fmla="*/ 619338 w 12192417"/>
              <a:gd name="connsiteY4" fmla="*/ 100188 h 5095933"/>
              <a:gd name="connsiteX5" fmla="*/ 836350 w 12192417"/>
              <a:gd name="connsiteY5" fmla="*/ 132066 h 5095933"/>
              <a:gd name="connsiteX6" fmla="*/ 1076527 w 12192417"/>
              <a:gd name="connsiteY6" fmla="*/ 165696 h 5095933"/>
              <a:gd name="connsiteX7" fmla="*/ 1347183 w 12192417"/>
              <a:gd name="connsiteY7" fmla="*/ 201077 h 5095933"/>
              <a:gd name="connsiteX8" fmla="*/ 1642222 w 12192417"/>
              <a:gd name="connsiteY8" fmla="*/ 238560 h 5095933"/>
              <a:gd name="connsiteX9" fmla="*/ 1962863 w 12192417"/>
              <a:gd name="connsiteY9" fmla="*/ 276043 h 5095933"/>
              <a:gd name="connsiteX10" fmla="*/ 2304231 w 12192417"/>
              <a:gd name="connsiteY10" fmla="*/ 314227 h 5095933"/>
              <a:gd name="connsiteX11" fmla="*/ 2672420 w 12192417"/>
              <a:gd name="connsiteY11" fmla="*/ 349608 h 5095933"/>
              <a:gd name="connsiteX12" fmla="*/ 3057677 w 12192417"/>
              <a:gd name="connsiteY12" fmla="*/ 383588 h 5095933"/>
              <a:gd name="connsiteX13" fmla="*/ 3464880 w 12192417"/>
              <a:gd name="connsiteY13" fmla="*/ 414415 h 5095933"/>
              <a:gd name="connsiteX14" fmla="*/ 3889151 w 12192417"/>
              <a:gd name="connsiteY14" fmla="*/ 443841 h 5095933"/>
              <a:gd name="connsiteX15" fmla="*/ 4331709 w 12192417"/>
              <a:gd name="connsiteY15" fmla="*/ 471515 h 5095933"/>
              <a:gd name="connsiteX16" fmla="*/ 4558475 w 12192417"/>
              <a:gd name="connsiteY16" fmla="*/ 481324 h 5095933"/>
              <a:gd name="connsiteX17" fmla="*/ 4790117 w 12192417"/>
              <a:gd name="connsiteY17" fmla="*/ 492183 h 5095933"/>
              <a:gd name="connsiteX18" fmla="*/ 5025417 w 12192417"/>
              <a:gd name="connsiteY18" fmla="*/ 502342 h 5095933"/>
              <a:gd name="connsiteX19" fmla="*/ 5261936 w 12192417"/>
              <a:gd name="connsiteY19" fmla="*/ 508998 h 5095933"/>
              <a:gd name="connsiteX20" fmla="*/ 5503331 w 12192417"/>
              <a:gd name="connsiteY20" fmla="*/ 514953 h 5095933"/>
              <a:gd name="connsiteX21" fmla="*/ 5747166 w 12192417"/>
              <a:gd name="connsiteY21" fmla="*/ 521259 h 5095933"/>
              <a:gd name="connsiteX22" fmla="*/ 5995876 w 12192417"/>
              <a:gd name="connsiteY22" fmla="*/ 525463 h 5095933"/>
              <a:gd name="connsiteX23" fmla="*/ 6247025 w 12192417"/>
              <a:gd name="connsiteY23" fmla="*/ 525463 h 5095933"/>
              <a:gd name="connsiteX24" fmla="*/ 6500612 w 12192417"/>
              <a:gd name="connsiteY24" fmla="*/ 527565 h 5095933"/>
              <a:gd name="connsiteX25" fmla="*/ 6756638 w 12192417"/>
              <a:gd name="connsiteY25" fmla="*/ 525463 h 5095933"/>
              <a:gd name="connsiteX26" fmla="*/ 7016321 w 12192417"/>
              <a:gd name="connsiteY26" fmla="*/ 521259 h 5095933"/>
              <a:gd name="connsiteX27" fmla="*/ 7276004 w 12192417"/>
              <a:gd name="connsiteY27" fmla="*/ 517406 h 5095933"/>
              <a:gd name="connsiteX28" fmla="*/ 7539344 w 12192417"/>
              <a:gd name="connsiteY28" fmla="*/ 508998 h 5095933"/>
              <a:gd name="connsiteX29" fmla="*/ 7805123 w 12192417"/>
              <a:gd name="connsiteY29" fmla="*/ 500241 h 5095933"/>
              <a:gd name="connsiteX30" fmla="*/ 8070902 w 12192417"/>
              <a:gd name="connsiteY30" fmla="*/ 490082 h 5095933"/>
              <a:gd name="connsiteX31" fmla="*/ 8339120 w 12192417"/>
              <a:gd name="connsiteY31" fmla="*/ 475719 h 5095933"/>
              <a:gd name="connsiteX32" fmla="*/ 8609775 w 12192417"/>
              <a:gd name="connsiteY32" fmla="*/ 458554 h 5095933"/>
              <a:gd name="connsiteX33" fmla="*/ 8881650 w 12192417"/>
              <a:gd name="connsiteY33" fmla="*/ 442089 h 5095933"/>
              <a:gd name="connsiteX34" fmla="*/ 9153525 w 12192417"/>
              <a:gd name="connsiteY34" fmla="*/ 421071 h 5095933"/>
              <a:gd name="connsiteX35" fmla="*/ 9429057 w 12192417"/>
              <a:gd name="connsiteY35" fmla="*/ 395849 h 5095933"/>
              <a:gd name="connsiteX36" fmla="*/ 9700932 w 12192417"/>
              <a:gd name="connsiteY36" fmla="*/ 370626 h 5095933"/>
              <a:gd name="connsiteX37" fmla="*/ 9977683 w 12192417"/>
              <a:gd name="connsiteY37" fmla="*/ 341551 h 5095933"/>
              <a:gd name="connsiteX38" fmla="*/ 10255654 w 12192417"/>
              <a:gd name="connsiteY38" fmla="*/ 309673 h 5095933"/>
              <a:gd name="connsiteX39" fmla="*/ 10529967 w 12192417"/>
              <a:gd name="connsiteY39" fmla="*/ 276043 h 5095933"/>
              <a:gd name="connsiteX40" fmla="*/ 10807938 w 12192417"/>
              <a:gd name="connsiteY40" fmla="*/ 236809 h 5095933"/>
              <a:gd name="connsiteX41" fmla="*/ 11084689 w 12192417"/>
              <a:gd name="connsiteY41" fmla="*/ 194772 h 5095933"/>
              <a:gd name="connsiteX42" fmla="*/ 11362660 w 12192417"/>
              <a:gd name="connsiteY42" fmla="*/ 153085 h 5095933"/>
              <a:gd name="connsiteX43" fmla="*/ 11639411 w 12192417"/>
              <a:gd name="connsiteY43" fmla="*/ 104392 h 5095933"/>
              <a:gd name="connsiteX44" fmla="*/ 11914944 w 12192417"/>
              <a:gd name="connsiteY44" fmla="*/ 54648 h 5095933"/>
              <a:gd name="connsiteX45" fmla="*/ 12191695 w 12192417"/>
              <a:gd name="connsiteY45" fmla="*/ 2452 h 5095933"/>
              <a:gd name="connsiteX46" fmla="*/ 12191695 w 12192417"/>
              <a:gd name="connsiteY46" fmla="*/ 2162231 h 5095933"/>
              <a:gd name="connsiteX47" fmla="*/ 12192417 w 12192417"/>
              <a:gd name="connsiteY47" fmla="*/ 2162231 h 5095933"/>
              <a:gd name="connsiteX48" fmla="*/ 12192417 w 12192417"/>
              <a:gd name="connsiteY48" fmla="*/ 5095933 h 5095933"/>
              <a:gd name="connsiteX49" fmla="*/ 0 w 12192417"/>
              <a:gd name="connsiteY49" fmla="*/ 5095933 h 5095933"/>
              <a:gd name="connsiteX50" fmla="*/ 0 w 12192417"/>
              <a:gd name="connsiteY50" fmla="*/ 2791958 h 5095933"/>
              <a:gd name="connsiteX51" fmla="*/ 0 w 12192417"/>
              <a:gd name="connsiteY51" fmla="*/ 2162231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12192417" h="5095933">
                <a:moveTo>
                  <a:pt x="0" y="0"/>
                </a:moveTo>
                <a:lnTo>
                  <a:pt x="71931" y="12261"/>
                </a:lnTo>
                <a:lnTo>
                  <a:pt x="282848" y="48343"/>
                </a:lnTo>
                <a:lnTo>
                  <a:pt x="436463" y="73565"/>
                </a:lnTo>
                <a:lnTo>
                  <a:pt x="619338" y="100188"/>
                </a:lnTo>
                <a:lnTo>
                  <a:pt x="836350" y="132066"/>
                </a:lnTo>
                <a:lnTo>
                  <a:pt x="1076527" y="165696"/>
                </a:lnTo>
                <a:lnTo>
                  <a:pt x="1347183" y="201077"/>
                </a:lnTo>
                <a:lnTo>
                  <a:pt x="1642222" y="238560"/>
                </a:lnTo>
                <a:lnTo>
                  <a:pt x="1962863" y="276043"/>
                </a:lnTo>
                <a:lnTo>
                  <a:pt x="2304231" y="314227"/>
                </a:lnTo>
                <a:lnTo>
                  <a:pt x="2672420" y="349608"/>
                </a:lnTo>
                <a:lnTo>
                  <a:pt x="3057677" y="383588"/>
                </a:lnTo>
                <a:lnTo>
                  <a:pt x="3464880" y="414415"/>
                </a:lnTo>
                <a:lnTo>
                  <a:pt x="3889151" y="443841"/>
                </a:lnTo>
                <a:lnTo>
                  <a:pt x="4331709" y="471515"/>
                </a:lnTo>
                <a:lnTo>
                  <a:pt x="4558475" y="481324"/>
                </a:lnTo>
                <a:lnTo>
                  <a:pt x="4790117" y="492183"/>
                </a:lnTo>
                <a:lnTo>
                  <a:pt x="5025417" y="502342"/>
                </a:lnTo>
                <a:lnTo>
                  <a:pt x="5261936" y="508998"/>
                </a:lnTo>
                <a:lnTo>
                  <a:pt x="5503331" y="514953"/>
                </a:lnTo>
                <a:lnTo>
                  <a:pt x="5747166" y="521259"/>
                </a:lnTo>
                <a:lnTo>
                  <a:pt x="5995876" y="525463"/>
                </a:lnTo>
                <a:lnTo>
                  <a:pt x="6247025" y="525463"/>
                </a:lnTo>
                <a:lnTo>
                  <a:pt x="6500612" y="527565"/>
                </a:lnTo>
                <a:lnTo>
                  <a:pt x="6756638" y="525463"/>
                </a:lnTo>
                <a:lnTo>
                  <a:pt x="7016321" y="521259"/>
                </a:lnTo>
                <a:lnTo>
                  <a:pt x="7276004" y="517406"/>
                </a:lnTo>
                <a:lnTo>
                  <a:pt x="7539344" y="508998"/>
                </a:lnTo>
                <a:lnTo>
                  <a:pt x="7805123" y="500241"/>
                </a:lnTo>
                <a:lnTo>
                  <a:pt x="8070902" y="490082"/>
                </a:lnTo>
                <a:lnTo>
                  <a:pt x="8339120" y="475719"/>
                </a:lnTo>
                <a:lnTo>
                  <a:pt x="8609775" y="458554"/>
                </a:lnTo>
                <a:lnTo>
                  <a:pt x="8881650" y="442089"/>
                </a:lnTo>
                <a:lnTo>
                  <a:pt x="9153525" y="421071"/>
                </a:lnTo>
                <a:lnTo>
                  <a:pt x="9429057" y="395849"/>
                </a:lnTo>
                <a:lnTo>
                  <a:pt x="9700932" y="370626"/>
                </a:lnTo>
                <a:lnTo>
                  <a:pt x="9977683" y="341551"/>
                </a:lnTo>
                <a:lnTo>
                  <a:pt x="10255654" y="309673"/>
                </a:lnTo>
                <a:lnTo>
                  <a:pt x="10529967" y="276043"/>
                </a:lnTo>
                <a:lnTo>
                  <a:pt x="10807938" y="236809"/>
                </a:lnTo>
                <a:lnTo>
                  <a:pt x="11084689" y="194772"/>
                </a:lnTo>
                <a:lnTo>
                  <a:pt x="11362660" y="153085"/>
                </a:lnTo>
                <a:lnTo>
                  <a:pt x="11639411" y="104392"/>
                </a:lnTo>
                <a:lnTo>
                  <a:pt x="11914944" y="54648"/>
                </a:lnTo>
                <a:lnTo>
                  <a:pt x="12191695" y="2452"/>
                </a:lnTo>
                <a:lnTo>
                  <a:pt x="12191695" y="2162231"/>
                </a:lnTo>
                <a:lnTo>
                  <a:pt x="12192417" y="2162231"/>
                </a:lnTo>
                <a:lnTo>
                  <a:pt x="12192417" y="5095933"/>
                </a:lnTo>
                <a:lnTo>
                  <a:pt x="0" y="5095933"/>
                </a:lnTo>
                <a:lnTo>
                  <a:pt x="0" y="2791958"/>
                </a:lnTo>
                <a:lnTo>
                  <a:pt x="0" y="2162231"/>
                </a:lnTo>
                <a:close/>
              </a:path>
            </a:pathLst>
          </a:custGeom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7A6009-7060-572B-67C4-F5B6214DBA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1" y="2528188"/>
            <a:ext cx="5122606" cy="3658689"/>
          </a:xfrm>
        </p:spPr>
        <p:txBody>
          <a:bodyPr>
            <a:normAutofit/>
          </a:bodyPr>
          <a:lstStyle/>
          <a:p>
            <a:pPr>
              <a:buClr>
                <a:schemeClr val="tx1"/>
              </a:buClr>
              <a:buFont typeface="Wingdings" pitchFamily="2" charset="2"/>
              <a:buChar char="Ø"/>
            </a:pPr>
            <a:r>
              <a:rPr lang="en-US" sz="1600" dirty="0"/>
              <a:t>Confirmed that all six-monthly files were imported</a:t>
            </a:r>
          </a:p>
          <a:p>
            <a:pPr>
              <a:buClr>
                <a:schemeClr val="tx1"/>
              </a:buClr>
              <a:buFont typeface="Wingdings" pitchFamily="2" charset="2"/>
              <a:buChar char="Ø"/>
            </a:pPr>
            <a:r>
              <a:rPr lang="en-US" sz="1600" dirty="0"/>
              <a:t>Verified 3,488,373 total records</a:t>
            </a:r>
          </a:p>
          <a:p>
            <a:pPr>
              <a:buClr>
                <a:schemeClr val="tx1"/>
              </a:buClr>
              <a:buFont typeface="Wingdings" pitchFamily="2" charset="2"/>
              <a:buChar char="Ø"/>
            </a:pPr>
            <a:r>
              <a:rPr lang="en-US" sz="1600" dirty="0"/>
              <a:t>Checked monthly row counts</a:t>
            </a:r>
          </a:p>
          <a:p>
            <a:pPr>
              <a:buClr>
                <a:schemeClr val="tx1"/>
              </a:buClr>
              <a:buFont typeface="Wingdings" pitchFamily="2" charset="2"/>
              <a:buChar char="Ø"/>
            </a:pPr>
            <a:r>
              <a:rPr lang="en-US" sz="1600" dirty="0"/>
              <a:t>Examined delays, cancellations, and diversions</a:t>
            </a:r>
          </a:p>
          <a:p>
            <a:pPr>
              <a:buClr>
                <a:schemeClr val="tx1"/>
              </a:buClr>
              <a:buFont typeface="Wingdings" pitchFamily="2" charset="2"/>
              <a:buChar char="Ø"/>
            </a:pPr>
            <a:r>
              <a:rPr lang="en-US" sz="1600" dirty="0"/>
              <a:t>Confirmed that the dataset is suitable for analysis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5830966-258D-A724-6541-6FD809E334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75007" y="2402308"/>
            <a:ext cx="6612193" cy="4133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886176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8E1EF5-6CE9-29AB-2777-48558194A5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Basic and Advanced SQL Queries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A909CC-2A51-BA4C-2D62-488D3C52C3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2322" y="1215852"/>
            <a:ext cx="11183814" cy="5189430"/>
          </a:xfrm>
        </p:spPr>
        <p:txBody>
          <a:bodyPr/>
          <a:lstStyle/>
          <a:p>
            <a:pPr>
              <a:buFont typeface="Wingdings" pitchFamily="2" charset="2"/>
              <a:buChar char="Ø"/>
            </a:pPr>
            <a:r>
              <a:rPr lang="en-US" b="1" dirty="0"/>
              <a:t>Swathi – Business statement : Track how the cancellation rate changes from one month to the next, and how much of it is weather-driven, to separate seasonal shocks from operational problems.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AA5CDDB-EC37-2510-664F-C642B9BB7D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080" y="2300018"/>
            <a:ext cx="8935497" cy="4205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1581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EAE5A-905F-9A07-5136-A4D28921FA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30" y="629266"/>
            <a:ext cx="9252154" cy="1223983"/>
          </a:xfrm>
        </p:spPr>
        <p:txBody>
          <a:bodyPr>
            <a:normAutofit/>
          </a:bodyPr>
          <a:lstStyle/>
          <a:p>
            <a:r>
              <a:rPr lang="en-US" sz="3200" dirty="0"/>
              <a:t>Basic and Advanced SQL Queries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7D9C2B-C52A-17F7-9D1F-A78B47A8B3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5892" y="1747414"/>
            <a:ext cx="4338409" cy="4196185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Ø"/>
            </a:pPr>
            <a:r>
              <a:rPr lang="en-US" b="1" dirty="0"/>
              <a:t>Priyanka -Identifying Cancelled Flights </a:t>
            </a:r>
          </a:p>
          <a:p>
            <a:pPr marL="0" indent="0">
              <a:buNone/>
            </a:pPr>
            <a:endParaRPr lang="en-US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B25F66F-FD0D-6BD5-ECBB-AFD4F1BBA4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0425" y="1468582"/>
            <a:ext cx="8505683" cy="5001491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3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4127092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83CBE7-0710-D246-C53E-4F5A4F20C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/>
              <a:t>Basic and Advanced SQL Queries</a:t>
            </a:r>
            <a:endParaRPr lang="en-US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C1ACBF-4F22-2BDB-B4D2-02FA1AB248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6111" y="1454541"/>
            <a:ext cx="5203899" cy="4195481"/>
          </a:xfrm>
        </p:spPr>
        <p:txBody>
          <a:bodyPr/>
          <a:lstStyle/>
          <a:p>
            <a:r>
              <a:rPr lang="en-US" dirty="0"/>
              <a:t>Charishma</a:t>
            </a:r>
          </a:p>
          <a:p>
            <a:r>
              <a:rPr lang="en-US" b="1" dirty="0"/>
              <a:t>Question</a:t>
            </a:r>
            <a:r>
              <a:rPr lang="en-US" dirty="0"/>
              <a:t>: Which origin airports are served by the greatest number of different airlines, and how many flights and destinations did they have?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30B5357-BEB0-BDA4-5D4F-301C574EED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564903"/>
            <a:ext cx="5522012" cy="445752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9517D3C-E452-71BA-EA7E-77383DD485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111" y="3915534"/>
            <a:ext cx="5188331" cy="1487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57660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0D9B8FD4-CDEB-4EB4-B4DE-C89E119389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Freeform 36">
            <a:extLst>
              <a:ext uri="{FF2B5EF4-FFF2-40B4-BE49-F238E27FC236}">
                <a16:creationId xmlns:a16="http://schemas.microsoft.com/office/drawing/2014/main" id="{5A2E3D1D-9E9F-4739-BA14-D4D7FA9FBD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644637" y="0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1FFB365B-E9DC-4859-B8AB-CB83EEBE4E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"/>
            <a:ext cx="4990911" cy="6858001"/>
          </a:xfrm>
          <a:custGeom>
            <a:avLst/>
            <a:gdLst>
              <a:gd name="connsiteX0" fmla="*/ 3646196 w 4990911"/>
              <a:gd name="connsiteY0" fmla="*/ 0 h 6858001"/>
              <a:gd name="connsiteX1" fmla="*/ 4989734 w 4990911"/>
              <a:gd name="connsiteY1" fmla="*/ 0 h 6858001"/>
              <a:gd name="connsiteX2" fmla="*/ 4964689 w 4990911"/>
              <a:gd name="connsiteY2" fmla="*/ 155677 h 6858001"/>
              <a:gd name="connsiteX3" fmla="*/ 4940820 w 4990911"/>
              <a:gd name="connsiteY3" fmla="*/ 310668 h 6858001"/>
              <a:gd name="connsiteX4" fmla="*/ 4917456 w 4990911"/>
              <a:gd name="connsiteY4" fmla="*/ 466344 h 6858001"/>
              <a:gd name="connsiteX5" fmla="*/ 4897453 w 4990911"/>
              <a:gd name="connsiteY5" fmla="*/ 622707 h 6858001"/>
              <a:gd name="connsiteX6" fmla="*/ 4877282 w 4990911"/>
              <a:gd name="connsiteY6" fmla="*/ 778383 h 6858001"/>
              <a:gd name="connsiteX7" fmla="*/ 4858456 w 4990911"/>
              <a:gd name="connsiteY7" fmla="*/ 934746 h 6858001"/>
              <a:gd name="connsiteX8" fmla="*/ 4842320 w 4990911"/>
              <a:gd name="connsiteY8" fmla="*/ 1089051 h 6858001"/>
              <a:gd name="connsiteX9" fmla="*/ 4827024 w 4990911"/>
              <a:gd name="connsiteY9" fmla="*/ 1245413 h 6858001"/>
              <a:gd name="connsiteX10" fmla="*/ 4813072 w 4990911"/>
              <a:gd name="connsiteY10" fmla="*/ 1401090 h 6858001"/>
              <a:gd name="connsiteX11" fmla="*/ 4800970 w 4990911"/>
              <a:gd name="connsiteY11" fmla="*/ 1554023 h 6858001"/>
              <a:gd name="connsiteX12" fmla="*/ 4788867 w 4990911"/>
              <a:gd name="connsiteY12" fmla="*/ 1709014 h 6858001"/>
              <a:gd name="connsiteX13" fmla="*/ 4778782 w 4990911"/>
              <a:gd name="connsiteY13" fmla="*/ 1861947 h 6858001"/>
              <a:gd name="connsiteX14" fmla="*/ 4770882 w 4990911"/>
              <a:gd name="connsiteY14" fmla="*/ 2014881 h 6858001"/>
              <a:gd name="connsiteX15" fmla="*/ 4762645 w 4990911"/>
              <a:gd name="connsiteY15" fmla="*/ 2167128 h 6858001"/>
              <a:gd name="connsiteX16" fmla="*/ 4755754 w 4990911"/>
              <a:gd name="connsiteY16" fmla="*/ 2318004 h 6858001"/>
              <a:gd name="connsiteX17" fmla="*/ 4750879 w 4990911"/>
              <a:gd name="connsiteY17" fmla="*/ 2467509 h 6858001"/>
              <a:gd name="connsiteX18" fmla="*/ 4746677 w 4990911"/>
              <a:gd name="connsiteY18" fmla="*/ 2617013 h 6858001"/>
              <a:gd name="connsiteX19" fmla="*/ 4742643 w 4990911"/>
              <a:gd name="connsiteY19" fmla="*/ 2765146 h 6858001"/>
              <a:gd name="connsiteX20" fmla="*/ 4740794 w 4990911"/>
              <a:gd name="connsiteY20" fmla="*/ 2911221 h 6858001"/>
              <a:gd name="connsiteX21" fmla="*/ 4738777 w 4990911"/>
              <a:gd name="connsiteY21" fmla="*/ 3057297 h 6858001"/>
              <a:gd name="connsiteX22" fmla="*/ 4737768 w 4990911"/>
              <a:gd name="connsiteY22" fmla="*/ 3201315 h 6858001"/>
              <a:gd name="connsiteX23" fmla="*/ 4738777 w 4990911"/>
              <a:gd name="connsiteY23" fmla="*/ 3343961 h 6858001"/>
              <a:gd name="connsiteX24" fmla="*/ 4738777 w 4990911"/>
              <a:gd name="connsiteY24" fmla="*/ 3485236 h 6858001"/>
              <a:gd name="connsiteX25" fmla="*/ 4740794 w 4990911"/>
              <a:gd name="connsiteY25" fmla="*/ 3625139 h 6858001"/>
              <a:gd name="connsiteX26" fmla="*/ 4743819 w 4990911"/>
              <a:gd name="connsiteY26" fmla="*/ 3762299 h 6858001"/>
              <a:gd name="connsiteX27" fmla="*/ 4746677 w 4990911"/>
              <a:gd name="connsiteY27" fmla="*/ 3898087 h 6858001"/>
              <a:gd name="connsiteX28" fmla="*/ 4749871 w 4990911"/>
              <a:gd name="connsiteY28" fmla="*/ 4031133 h 6858001"/>
              <a:gd name="connsiteX29" fmla="*/ 4754745 w 4990911"/>
              <a:gd name="connsiteY29" fmla="*/ 4163492 h 6858001"/>
              <a:gd name="connsiteX30" fmla="*/ 4759956 w 4990911"/>
              <a:gd name="connsiteY30" fmla="*/ 4293793 h 6858001"/>
              <a:gd name="connsiteX31" fmla="*/ 4764662 w 4990911"/>
              <a:gd name="connsiteY31" fmla="*/ 4421352 h 6858001"/>
              <a:gd name="connsiteX32" fmla="*/ 4777942 w 4990911"/>
              <a:gd name="connsiteY32" fmla="*/ 4670298 h 6858001"/>
              <a:gd name="connsiteX33" fmla="*/ 4792061 w 4990911"/>
              <a:gd name="connsiteY33" fmla="*/ 4908956 h 6858001"/>
              <a:gd name="connsiteX34" fmla="*/ 4806853 w 4990911"/>
              <a:gd name="connsiteY34" fmla="*/ 5138013 h 6858001"/>
              <a:gd name="connsiteX35" fmla="*/ 4823158 w 4990911"/>
              <a:gd name="connsiteY35" fmla="*/ 5354726 h 6858001"/>
              <a:gd name="connsiteX36" fmla="*/ 4840135 w 4990911"/>
              <a:gd name="connsiteY36" fmla="*/ 5561838 h 6858001"/>
              <a:gd name="connsiteX37" fmla="*/ 4858456 w 4990911"/>
              <a:gd name="connsiteY37" fmla="*/ 5753862 h 6858001"/>
              <a:gd name="connsiteX38" fmla="*/ 4876442 w 4990911"/>
              <a:gd name="connsiteY38" fmla="*/ 5934227 h 6858001"/>
              <a:gd name="connsiteX39" fmla="*/ 4894427 w 4990911"/>
              <a:gd name="connsiteY39" fmla="*/ 6100191 h 6858001"/>
              <a:gd name="connsiteX40" fmla="*/ 4911404 w 4990911"/>
              <a:gd name="connsiteY40" fmla="*/ 6252438 h 6858001"/>
              <a:gd name="connsiteX41" fmla="*/ 4927541 w 4990911"/>
              <a:gd name="connsiteY41" fmla="*/ 6387541 h 6858001"/>
              <a:gd name="connsiteX42" fmla="*/ 4942837 w 4990911"/>
              <a:gd name="connsiteY42" fmla="*/ 6509613 h 6858001"/>
              <a:gd name="connsiteX43" fmla="*/ 4955612 w 4990911"/>
              <a:gd name="connsiteY43" fmla="*/ 6612483 h 6858001"/>
              <a:gd name="connsiteX44" fmla="*/ 4967714 w 4990911"/>
              <a:gd name="connsiteY44" fmla="*/ 6698894 h 6858001"/>
              <a:gd name="connsiteX45" fmla="*/ 4985028 w 4990911"/>
              <a:gd name="connsiteY45" fmla="*/ 6817538 h 6858001"/>
              <a:gd name="connsiteX46" fmla="*/ 4990911 w 4990911"/>
              <a:gd name="connsiteY46" fmla="*/ 6858000 h 6858001"/>
              <a:gd name="connsiteX47" fmla="*/ 4085557 w 4990911"/>
              <a:gd name="connsiteY47" fmla="*/ 6858000 h 6858001"/>
              <a:gd name="connsiteX48" fmla="*/ 4085557 w 4990911"/>
              <a:gd name="connsiteY48" fmla="*/ 6858001 h 6858001"/>
              <a:gd name="connsiteX49" fmla="*/ 0 w 4990911"/>
              <a:gd name="connsiteY49" fmla="*/ 6858001 h 6858001"/>
              <a:gd name="connsiteX50" fmla="*/ 0 w 4990911"/>
              <a:gd name="connsiteY50" fmla="*/ 1 h 6858001"/>
              <a:gd name="connsiteX51" fmla="*/ 3646196 w 4990911"/>
              <a:gd name="connsiteY51" fmla="*/ 1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4990911" h="6858001">
                <a:moveTo>
                  <a:pt x="3646196" y="0"/>
                </a:moveTo>
                <a:lnTo>
                  <a:pt x="4989734" y="0"/>
                </a:lnTo>
                <a:lnTo>
                  <a:pt x="4964689" y="155677"/>
                </a:lnTo>
                <a:lnTo>
                  <a:pt x="4940820" y="310668"/>
                </a:lnTo>
                <a:lnTo>
                  <a:pt x="4917456" y="466344"/>
                </a:lnTo>
                <a:lnTo>
                  <a:pt x="4897453" y="622707"/>
                </a:lnTo>
                <a:lnTo>
                  <a:pt x="4877282" y="778383"/>
                </a:lnTo>
                <a:lnTo>
                  <a:pt x="4858456" y="934746"/>
                </a:lnTo>
                <a:lnTo>
                  <a:pt x="4842320" y="1089051"/>
                </a:lnTo>
                <a:lnTo>
                  <a:pt x="4827024" y="1245413"/>
                </a:lnTo>
                <a:lnTo>
                  <a:pt x="4813072" y="1401090"/>
                </a:lnTo>
                <a:lnTo>
                  <a:pt x="4800970" y="1554023"/>
                </a:lnTo>
                <a:lnTo>
                  <a:pt x="4788867" y="1709014"/>
                </a:lnTo>
                <a:lnTo>
                  <a:pt x="4778782" y="1861947"/>
                </a:lnTo>
                <a:lnTo>
                  <a:pt x="4770882" y="2014881"/>
                </a:lnTo>
                <a:lnTo>
                  <a:pt x="4762645" y="2167128"/>
                </a:lnTo>
                <a:lnTo>
                  <a:pt x="4755754" y="2318004"/>
                </a:lnTo>
                <a:lnTo>
                  <a:pt x="4750879" y="2467509"/>
                </a:lnTo>
                <a:lnTo>
                  <a:pt x="4746677" y="2617013"/>
                </a:lnTo>
                <a:lnTo>
                  <a:pt x="4742643" y="2765146"/>
                </a:lnTo>
                <a:lnTo>
                  <a:pt x="4740794" y="2911221"/>
                </a:lnTo>
                <a:lnTo>
                  <a:pt x="4738777" y="3057297"/>
                </a:lnTo>
                <a:lnTo>
                  <a:pt x="4737768" y="3201315"/>
                </a:lnTo>
                <a:lnTo>
                  <a:pt x="4738777" y="3343961"/>
                </a:lnTo>
                <a:lnTo>
                  <a:pt x="4738777" y="3485236"/>
                </a:lnTo>
                <a:lnTo>
                  <a:pt x="4740794" y="3625139"/>
                </a:lnTo>
                <a:lnTo>
                  <a:pt x="4743819" y="3762299"/>
                </a:lnTo>
                <a:lnTo>
                  <a:pt x="4746677" y="3898087"/>
                </a:lnTo>
                <a:lnTo>
                  <a:pt x="4749871" y="4031133"/>
                </a:lnTo>
                <a:lnTo>
                  <a:pt x="4754745" y="4163492"/>
                </a:lnTo>
                <a:lnTo>
                  <a:pt x="4759956" y="4293793"/>
                </a:lnTo>
                <a:lnTo>
                  <a:pt x="4764662" y="4421352"/>
                </a:lnTo>
                <a:lnTo>
                  <a:pt x="4777942" y="4670298"/>
                </a:lnTo>
                <a:lnTo>
                  <a:pt x="4792061" y="4908956"/>
                </a:lnTo>
                <a:lnTo>
                  <a:pt x="4806853" y="5138013"/>
                </a:lnTo>
                <a:lnTo>
                  <a:pt x="4823158" y="5354726"/>
                </a:lnTo>
                <a:lnTo>
                  <a:pt x="4840135" y="5561838"/>
                </a:lnTo>
                <a:lnTo>
                  <a:pt x="4858456" y="5753862"/>
                </a:lnTo>
                <a:lnTo>
                  <a:pt x="4876442" y="5934227"/>
                </a:lnTo>
                <a:lnTo>
                  <a:pt x="4894427" y="6100191"/>
                </a:lnTo>
                <a:lnTo>
                  <a:pt x="4911404" y="6252438"/>
                </a:lnTo>
                <a:lnTo>
                  <a:pt x="4927541" y="6387541"/>
                </a:lnTo>
                <a:lnTo>
                  <a:pt x="4942837" y="6509613"/>
                </a:lnTo>
                <a:lnTo>
                  <a:pt x="4955612" y="6612483"/>
                </a:lnTo>
                <a:lnTo>
                  <a:pt x="4967714" y="6698894"/>
                </a:lnTo>
                <a:lnTo>
                  <a:pt x="4985028" y="6817538"/>
                </a:lnTo>
                <a:lnTo>
                  <a:pt x="4990911" y="6858000"/>
                </a:lnTo>
                <a:lnTo>
                  <a:pt x="4085557" y="6858000"/>
                </a:lnTo>
                <a:lnTo>
                  <a:pt x="4085557" y="6858001"/>
                </a:lnTo>
                <a:lnTo>
                  <a:pt x="0" y="6858001"/>
                </a:lnTo>
                <a:lnTo>
                  <a:pt x="0" y="1"/>
                </a:lnTo>
                <a:lnTo>
                  <a:pt x="3646196" y="1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ADAB9C8-EB37-4914-A699-C716FC8FE4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21BE54D-22E6-164D-DC8E-C19E6D5FFF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0880" y="2726574"/>
            <a:ext cx="3522879" cy="4470821"/>
          </a:xfrm>
        </p:spPr>
        <p:txBody>
          <a:bodyPr>
            <a:normAutofit/>
          </a:bodyPr>
          <a:lstStyle/>
          <a:p>
            <a:pPr algn="r"/>
            <a:r>
              <a:rPr lang="en-US" sz="3200" dirty="0">
                <a:solidFill>
                  <a:schemeClr val="bg2"/>
                </a:solidFill>
              </a:rPr>
              <a:t>Challenges &amp; Next Steps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FF3FDB-115B-4F7C-75FB-0FF28CCF0F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04109" y="1000126"/>
            <a:ext cx="6651560" cy="5204591"/>
          </a:xfrm>
        </p:spPr>
        <p:txBody>
          <a:bodyPr>
            <a:norm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US" sz="1800" b="1" dirty="0"/>
              <a:t>Challenges so far: </a:t>
            </a:r>
          </a:p>
          <a:p>
            <a:pPr>
              <a:lnSpc>
                <a:spcPct val="90000"/>
              </a:lnSpc>
            </a:pPr>
            <a:r>
              <a:rPr lang="en-US" sz="1800" dirty="0"/>
              <a:t>Mapping BTS raw column names to normalized table columns</a:t>
            </a:r>
          </a:p>
          <a:p>
            <a:pPr>
              <a:lnSpc>
                <a:spcPct val="90000"/>
              </a:lnSpc>
            </a:pPr>
            <a:r>
              <a:rPr lang="en-US" sz="1800" dirty="0"/>
              <a:t>Handling multiple raw files with 61 columns</a:t>
            </a:r>
          </a:p>
          <a:p>
            <a:pPr>
              <a:lnSpc>
                <a:spcPct val="90000"/>
              </a:lnSpc>
            </a:pPr>
            <a:r>
              <a:rPr lang="en-US" sz="1800" dirty="0"/>
              <a:t>Importing and processing more than 3.4 million records</a:t>
            </a:r>
          </a:p>
          <a:p>
            <a:pPr>
              <a:lnSpc>
                <a:spcPct val="90000"/>
              </a:lnSpc>
            </a:pPr>
            <a:r>
              <a:rPr lang="en-US" sz="1800" dirty="0"/>
              <a:t>Checking primary and foreign key relations</a:t>
            </a:r>
          </a:p>
          <a:p>
            <a:pPr>
              <a:lnSpc>
                <a:spcPct val="90000"/>
              </a:lnSpc>
            </a:pPr>
            <a:r>
              <a:rPr lang="en-US" sz="1800" dirty="0"/>
              <a:t>Maintaining query efficiency with large data set</a:t>
            </a:r>
          </a:p>
          <a:p>
            <a:pPr marL="0" indent="0">
              <a:lnSpc>
                <a:spcPct val="90000"/>
              </a:lnSpc>
              <a:buNone/>
            </a:pPr>
            <a:endParaRPr lang="en-US" sz="1800" dirty="0"/>
          </a:p>
          <a:p>
            <a:pPr marL="0" indent="0">
              <a:lnSpc>
                <a:spcPct val="90000"/>
              </a:lnSpc>
              <a:buNone/>
            </a:pPr>
            <a:r>
              <a:rPr lang="en-US" sz="1800" b="1" dirty="0"/>
              <a:t>Planned improvements for the final project:</a:t>
            </a:r>
          </a:p>
          <a:p>
            <a:pPr>
              <a:lnSpc>
                <a:spcPct val="90000"/>
              </a:lnSpc>
            </a:pPr>
            <a:r>
              <a:rPr lang="en-US" sz="1800" dirty="0"/>
              <a:t>Design and test advanced SQL queries</a:t>
            </a:r>
          </a:p>
          <a:p>
            <a:pPr>
              <a:lnSpc>
                <a:spcPct val="100000"/>
              </a:lnSpc>
            </a:pPr>
            <a:r>
              <a:rPr lang="en-US" sz="1800" dirty="0"/>
              <a:t>Completing and validating the 13-table normalized DB</a:t>
            </a:r>
          </a:p>
          <a:p>
            <a:pPr>
              <a:lnSpc>
                <a:spcPct val="100000"/>
              </a:lnSpc>
            </a:pPr>
            <a:r>
              <a:rPr lang="en-US" sz="1800" dirty="0"/>
              <a:t>Creating dashboards and visualizations</a:t>
            </a:r>
          </a:p>
          <a:p>
            <a:pPr>
              <a:lnSpc>
                <a:spcPct val="100000"/>
              </a:lnSpc>
            </a:pPr>
            <a:r>
              <a:rPr lang="en-US" sz="1800" dirty="0"/>
              <a:t>Finalize findings and project documentation for final presentation</a:t>
            </a:r>
          </a:p>
        </p:txBody>
      </p:sp>
    </p:spTree>
    <p:extLst>
      <p:ext uri="{BB962C8B-B14F-4D97-AF65-F5344CB8AC3E}">
        <p14:creationId xmlns:p14="http://schemas.microsoft.com/office/powerpoint/2010/main" val="332295620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F15708-9888-57B0-39D3-60CF3C7573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175" y="276073"/>
            <a:ext cx="9404723" cy="1400530"/>
          </a:xfrm>
        </p:spPr>
        <p:txBody>
          <a:bodyPr/>
          <a:lstStyle/>
          <a:p>
            <a:r>
              <a:rPr lang="en-US" sz="3200" dirty="0"/>
              <a:t>Individual Contribution (GitHub):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22D0B3-AD53-86F1-F7B2-A33BE8DCB2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5265" y="986700"/>
            <a:ext cx="8946541" cy="4195481"/>
          </a:xfrm>
        </p:spPr>
        <p:txBody>
          <a:bodyPr/>
          <a:lstStyle/>
          <a:p>
            <a:r>
              <a:rPr lang="en-US" dirty="0"/>
              <a:t>Link: </a:t>
            </a:r>
            <a:r>
              <a:rPr lang="en-US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</a:t>
            </a:r>
            <a:r>
              <a:rPr lang="en-US" dirty="0" err="1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</a:t>
            </a:r>
            <a:r>
              <a:rPr lang="en-US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/CharishmaChandu12/DBMS-Project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1C904F9-E206-EE51-00E4-8E86E5AE131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804" r="4181"/>
          <a:stretch>
            <a:fillRect/>
          </a:stretch>
        </p:blipFill>
        <p:spPr>
          <a:xfrm>
            <a:off x="146826" y="1738883"/>
            <a:ext cx="6514695" cy="447366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25994F4-938B-7C26-CC8E-1346E96C5E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72572" y="1506943"/>
            <a:ext cx="5038467" cy="4917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580808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Picture 49">
            <a:extLst>
              <a:ext uri="{FF2B5EF4-FFF2-40B4-BE49-F238E27FC236}">
                <a16:creationId xmlns:a16="http://schemas.microsoft.com/office/drawing/2014/main" id="{5B89E5C5-A037-45B3-9D37-3658914D47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52" name="Picture 51">
            <a:extLst>
              <a:ext uri="{FF2B5EF4-FFF2-40B4-BE49-F238E27FC236}">
                <a16:creationId xmlns:a16="http://schemas.microsoft.com/office/drawing/2014/main" id="{5ACB93B0-521E-443D-9750-AFCFDDB3E8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54" name="Oval 53">
            <a:extLst>
              <a:ext uri="{FF2B5EF4-FFF2-40B4-BE49-F238E27FC236}">
                <a16:creationId xmlns:a16="http://schemas.microsoft.com/office/drawing/2014/main" id="{DA1DAC79-DDBA-4382-9D43-6E5F685BE5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5878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56" name="Picture 55">
            <a:extLst>
              <a:ext uri="{FF2B5EF4-FFF2-40B4-BE49-F238E27FC236}">
                <a16:creationId xmlns:a16="http://schemas.microsoft.com/office/drawing/2014/main" id="{E0880F10-995F-4F01-A83B-7ECDB7BE79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58" name="Picture 57">
            <a:extLst>
              <a:ext uri="{FF2B5EF4-FFF2-40B4-BE49-F238E27FC236}">
                <a16:creationId xmlns:a16="http://schemas.microsoft.com/office/drawing/2014/main" id="{A2D49266-1F08-40F2-B0E1-1D919DCB57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60" name="Rectangle 59">
            <a:extLst>
              <a:ext uri="{FF2B5EF4-FFF2-40B4-BE49-F238E27FC236}">
                <a16:creationId xmlns:a16="http://schemas.microsoft.com/office/drawing/2014/main" id="{6AACA73D-178F-4CFC-99E3-9F4FCBBDBA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23" name="Content Placeholder 22">
            <a:extLst>
              <a:ext uri="{FF2B5EF4-FFF2-40B4-BE49-F238E27FC236}">
                <a16:creationId xmlns:a16="http://schemas.microsoft.com/office/drawing/2014/main" id="{B9AE5A72-E555-395A-724E-5999C21E014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7"/>
          <a:srcRect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62" name="Rectangle 61">
            <a:extLst>
              <a:ext uri="{FF2B5EF4-FFF2-40B4-BE49-F238E27FC236}">
                <a16:creationId xmlns:a16="http://schemas.microsoft.com/office/drawing/2014/main" id="{52B1435E-BAB8-43AB-AF6A-C15D437DCB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875617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7791</TotalTime>
  <Words>1090</Words>
  <Application>Microsoft Macintosh PowerPoint</Application>
  <PresentationFormat>Widescreen</PresentationFormat>
  <Paragraphs>183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Arial</vt:lpstr>
      <vt:lpstr>Century Gothic</vt:lpstr>
      <vt:lpstr>Courier New</vt:lpstr>
      <vt:lpstr>Wingdings</vt:lpstr>
      <vt:lpstr>Wingdings 3</vt:lpstr>
      <vt:lpstr>Ion</vt:lpstr>
      <vt:lpstr>U.S. Airline On-Time Performance Database</vt:lpstr>
      <vt:lpstr>Dataset Introduction </vt:lpstr>
      <vt:lpstr>Why We Chose This Dataset?</vt:lpstr>
      <vt:lpstr>Dataset Complexity</vt:lpstr>
      <vt:lpstr>Columns Used for the Database</vt:lpstr>
      <vt:lpstr>Schema Design &amp; Database Setup</vt:lpstr>
      <vt:lpstr>Initial ER Diagram : </vt:lpstr>
      <vt:lpstr>Initial ER/EER Diagram:</vt:lpstr>
      <vt:lpstr>Relational Schema Mapping:</vt:lpstr>
      <vt:lpstr>Keys and Relationship Justification</vt:lpstr>
      <vt:lpstr>Functional Dependencies:  </vt:lpstr>
      <vt:lpstr>Normalization Through 3NF</vt:lpstr>
      <vt:lpstr>Initial SQL Exploration :</vt:lpstr>
      <vt:lpstr>Basic and Advanced SQL Queries</vt:lpstr>
      <vt:lpstr>Basic and Advanced SQL Queries</vt:lpstr>
      <vt:lpstr>Basic and Advanced SQL Queries</vt:lpstr>
      <vt:lpstr>Challenges &amp; Next Steps</vt:lpstr>
      <vt:lpstr>Individual Contribution (GitHub):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Priyanka Vamaraju</dc:creator>
  <cp:lastModifiedBy>Charishma Chandu</cp:lastModifiedBy>
  <cp:revision>15</cp:revision>
  <dcterms:created xsi:type="dcterms:W3CDTF">2026-10-02T21:59:36Z</dcterms:created>
  <dcterms:modified xsi:type="dcterms:W3CDTF">2026-10-08T21:36:42Z</dcterms:modified>
</cp:coreProperties>
</file>